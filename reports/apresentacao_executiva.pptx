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município-ano que atingiu a meta (2022–2024)</c:v>
                </c:pt>
              </c:strCache>
            </c:strRef>
          </c:tx>
          <c:spPr>
            <a:solidFill>
              <a:srgbClr val="C1443C"/>
            </a:solidFill>
            <a:effectLst/>
          </c:spPr>
          <c:invertIfNegative val="0"/>
          <c:dLbls>
            <c:numFmt formatCode="0%" sourceLinked="0"/>
            <c:txPr>
              <a:bodyPr/>
              <a:lstStyle/>
              <a:p>
                <a:pPr>
                  <a:defRPr b="0" i="0" strike="noStrike" sz="1200" u="none">
                    <a:solidFill>
                      <a:srgbClr val="1A1F3D"/>
                    </a:solidFill>
                    <a:latin typeface="Calibri"/>
                  </a:defRPr>
                </a:pPr>
              </a:p>
            </c:txPr>
            <c:showLegendKey val="0"/>
            <c:showVal val="1"/>
            <c:showCatName val="0"/>
            <c:showSerName val="0"/>
            <c:showPercent val="0"/>
            <c:showBubbleSize val="0"/>
            <c:showLeaderLines val="0"/>
          </c:dLbls>
          <c:dPt>
            <c:idx val="0"/>
            <c:invertIfNegative val="0"/>
            <c:bubble3D val="0"/>
            <c:spPr>
              <a:solidFill>
                <a:srgbClr val="C1443C"/>
              </a:solidFill>
              <a:effectLst/>
            </c:spPr>
          </c:dPt>
          <c:dPt>
            <c:idx val="1"/>
            <c:invertIfNegative val="0"/>
            <c:bubble3D val="0"/>
            <c:spPr>
              <a:solidFill>
                <a:srgbClr val="C1443C"/>
              </a:solidFill>
              <a:effectLst/>
            </c:spPr>
          </c:dPt>
          <c:dPt>
            <c:idx val="2"/>
            <c:invertIfNegative val="0"/>
            <c:bubble3D val="0"/>
            <c:spPr>
              <a:solidFill>
                <a:srgbClr val="F2A541"/>
              </a:solidFill>
              <a:effectLst/>
            </c:spPr>
          </c:dPt>
          <c:dPt>
            <c:idx val="3"/>
            <c:invertIfNegative val="0"/>
            <c:bubble3D val="0"/>
            <c:spPr>
              <a:solidFill>
                <a:srgbClr val="3C8D5A"/>
              </a:solidFill>
              <a:effectLst/>
            </c:spPr>
          </c:dPt>
          <c:dPt>
            <c:idx val="4"/>
            <c:invertIfNegative val="0"/>
            <c:bubble3D val="0"/>
            <c:spPr>
              <a:solidFill>
                <a:srgbClr val="3C8D5A"/>
              </a:solidFill>
              <a:effectLst/>
            </c:spPr>
          </c:dPt>
          <c:cat>
            <c:multiLvlStrRef>
              <c:f>Sheet1!$A$2:$A$6</c:f>
              <c:multiLvlStrCache>
                <c:ptCount val="5"/>
                <c:lvl>
                  <c:pt idx="0">
                    <c:v>Norte</c:v>
                  </c:pt>
                  <c:pt idx="1">
                    <c:v>Nordeste</c:v>
                  </c:pt>
                  <c:pt idx="2">
                    <c:v>Centro-Oeste</c:v>
                  </c:pt>
                  <c:pt idx="3">
                    <c:v>Sudeste</c:v>
                  </c:pt>
                  <c:pt idx="4">
                    <c:v>Sul</c:v>
                  </c:pt>
                </c:lvl>
              </c:multiLvlStrCache>
            </c:multiLvlStrRef>
          </c:cat>
          <c:val>
            <c:numRef>
              <c:f>Sheet1!$B$2:$B$6</c:f>
              <c:numCache>
                <c:formatCode>General</c:formatCode>
                <c:ptCount val="5"/>
                <c:pt idx="0">
                  <c:v>0.010178117048346057</c:v>
                </c:pt>
                <c:pt idx="1">
                  <c:v>0.020370370370370372</c:v>
                </c:pt>
                <c:pt idx="2">
                  <c:v>0.36065573770491804</c:v>
                </c:pt>
                <c:pt idx="3">
                  <c:v>0.9375</c:v>
                </c:pt>
                <c:pt idx="4">
                  <c:v>0.9777777777777777</c:v>
                </c:pt>
              </c:numCache>
            </c:numRef>
          </c:val>
        </c:ser>
        <c:dLbls>
          <c:numFmt formatCode="0%" sourceLinked="0"/>
          <c:txPr>
            <a:bodyPr/>
            <a:lstStyle/>
            <a:p>
              <a:pPr>
                <a:defRPr b="0" i="0" strike="noStrike" sz="1200" u="none">
                  <a:solidFill>
                    <a:srgbClr val="1A1F3D"/>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F3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ROC-AUC (holdout 2024)</c:v>
                </c:pt>
              </c:strCache>
            </c:strRef>
          </c:tx>
          <c:spPr>
            <a:solidFill>
              <a:srgbClr val="5B67AE"/>
            </a:solidFill>
            <a:effectLst/>
          </c:spPr>
          <c:invertIfNegative val="0"/>
          <c:dLbls>
            <c:numFmt formatCode="0.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5B67AE"/>
              </a:solidFill>
              <a:effectLst/>
            </c:spPr>
          </c:dPt>
          <c:dPt>
            <c:idx val="1"/>
            <c:invertIfNegative val="0"/>
            <c:bubble3D val="0"/>
            <c:spPr>
              <a:solidFill>
                <a:srgbClr val="5B67AE"/>
              </a:solidFill>
              <a:effectLst/>
            </c:spPr>
          </c:dPt>
          <c:dPt>
            <c:idx val="2"/>
            <c:invertIfNegative val="0"/>
            <c:bubble3D val="0"/>
            <c:spPr>
              <a:solidFill>
                <a:srgbClr val="F2A541"/>
              </a:solidFill>
              <a:effectLst/>
            </c:spPr>
          </c:dPt>
          <c:cat>
            <c:multiLvlStrRef>
              <c:f>Sheet1!$A$2:$A$4</c:f>
              <c:multiLvlStrCache>
                <c:ptCount val="3"/>
                <c:lvl>
                  <c:pt idx="0">
                    <c:v>Gradient Boosting</c:v>
                  </c:pt>
                  <c:pt idx="1">
                    <c:v>Random Forest</c:v>
                  </c:pt>
                  <c:pt idx="2">
                    <c:v>Regressão Logística</c:v>
                  </c:pt>
                </c:lvl>
              </c:multiLvlStrCache>
            </c:multiLvlStrRef>
          </c:cat>
          <c:val>
            <c:numRef>
              <c:f>Sheet1!$B$2:$B$4</c:f>
              <c:numCache>
                <c:formatCode>General</c:formatCode>
                <c:ptCount val="3"/>
                <c:pt idx="0">
                  <c:v>0.96</c:v>
                </c:pt>
                <c:pt idx="1">
                  <c:v>0.955</c:v>
                </c:pt>
                <c:pt idx="2">
                  <c:v>0.964</c:v>
                </c:pt>
              </c:numCache>
            </c:numRef>
          </c:val>
        </c:ser>
        <c:dLbls>
          <c:numFmt formatCode="0.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CADCFC"/>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Boa tarde. Hoje eu queria trazer uma pergunta simples: dá pra saber, com antecedência, se um município vai atingir a meta de alfabetização — antes do resultado sair? Foi isso que fui investigar, usando os dados da camada Gold que construí na fase anterior do projeto.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Hoje o acompanhamento é reativo: só descobrimos se um município atingiu a meta depois que o ano fechou. Isso significa que reforço, formação de professor, apoio técnico — tudo chega tarde demais pra mudar aquele resultado. Uma nota rápida sobre o enunciado: ele fala em prever se 'um aluno' será alfabetizado, mas exige dados da camada Gold, agregada em município. Então aqui, isso vira a probabilidade de um aluno daquele município ser alfabetizado — é o nível que o dado público sustenta, respeitando a LGPD, já que resultado individual de alfabetização não é dado público no Brasil. A pergunta que guiou o projeto foi: dá pra antecipar esse risco?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E aqui está o achado mais forte do projeto. Não é uma diferença sutil entre regiões, é uma clivagem estrutural. No período analisado, praticamente todo o Sul e o Sudeste atingiram a meta — 98% e 94% dos casos. Nordeste e Norte, o oposto: só 2% e 1%. Isso não é ruído estatístico, é um padrão consistente ano após ano, e foi esse padrão que guiou toda a modelagem.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Por trás desse número tem um processo técnico rigoroso. Extraí os dados direto do BigQuery, construí variáveis de histórico do próprio município sem vazar informação do resultado que eu queria prever, integrei tudo numa pipeline única do scikit-learn, e validei de um jeito realista: treinei com 2022 e 2023, testei em 2024, como se estivesse prevendo o futuro de verdade. Comparei três algoritmos, e o modelo final atinge 96% de ROC-AUC.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Mas não bastava ter uma métrica alta, eu precisava entender por quê. Usando SHAP, confirmei estatisticamente o que o gráfico anterior sugeria: a localização do município é o fator mais decisivo, seguido de perto pelo histórico recente dele. A curva ROC mostra que o modelo separa muito bem quem está em risco de quem está no caminho certo, e a matriz de confusão mostra isso na prática: pouquíssimos falsos positivos e falsos negativos no holdout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Na prática, isso vira uma ferramenta de priorização: uma lista de municípios ordenada por probabilidade de não atingir a meta. Esses cinco aqui, por exemplo, têm menos de 1% de chance prevista de atingir a meta em 2024 — candidatos naturais para reforço escolar e formação de professores antes do resultado ruim se confirmar. E como o modelo entende o padrão regional, dá pra pensar política diferenciada por perfil de região, não uma receita única pro país inteiro.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No fim, a proposta é simples: sair de medir o passado pra agir sobre o futuro provável. Os próximos passos são enriquecer a base com dados socioeconômicos, expandir pra mais municípios, e colocar isso num dashboard que o gestor usa direto, sem precisar abrir notebook. Obrigado.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141A45"/>
          </a:solidFill>
          <a:ln/>
        </p:spPr>
      </p:sp>
      <p:sp>
        <p:nvSpPr>
          <p:cNvPr id="3" name="Shape 1"/>
          <p:cNvSpPr/>
          <p:nvPr/>
        </p:nvSpPr>
        <p:spPr>
          <a:xfrm>
            <a:off x="-2286000" y="4754880"/>
            <a:ext cx="4572000" cy="4572000"/>
          </a:xfrm>
          <a:prstGeom prst="ellipse">
            <a:avLst/>
          </a:prstGeom>
          <a:solidFill>
            <a:srgbClr val="141A45"/>
          </a:solidFill>
          <a:ln/>
        </p:spPr>
      </p:sp>
      <p:sp>
        <p:nvSpPr>
          <p:cNvPr id="4" name="Text 2"/>
          <p:cNvSpPr txBox="1"/>
          <p:nvPr/>
        </p:nvSpPr>
        <p:spPr>
          <a:xfrm>
            <a:off x="822960" y="685800"/>
            <a:ext cx="5486400" cy="32004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TECH CHALLENGE — FASE 3  ·  REUNIÃO EXECUTIVA</a:t>
            </a:r>
            <a:endParaRPr lang="en-US" sz="1200" dirty="0"/>
          </a:p>
        </p:txBody>
      </p:sp>
      <p:sp>
        <p:nvSpPr>
          <p:cNvPr id="5" name="Text 3"/>
          <p:cNvSpPr txBox="1"/>
          <p:nvPr/>
        </p:nvSpPr>
        <p:spPr>
          <a:xfrm>
            <a:off x="822960" y="1234440"/>
            <a:ext cx="10241280" cy="210312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Predição e Inteligência Analítica</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para Alfabetização no Brasil</a:t>
            </a:r>
            <a:endParaRPr lang="en-US" sz="4000" dirty="0"/>
          </a:p>
        </p:txBody>
      </p:sp>
      <p:sp>
        <p:nvSpPr>
          <p:cNvPr id="6" name="Shape 4"/>
          <p:cNvSpPr/>
          <p:nvPr/>
        </p:nvSpPr>
        <p:spPr>
          <a:xfrm>
            <a:off x="822960" y="3611880"/>
            <a:ext cx="8778240" cy="1051560"/>
          </a:xfrm>
          <a:prstGeom prst="roundRect">
            <a:avLst>
              <a:gd name="adj" fmla="val 10435"/>
            </a:avLst>
          </a:prstGeom>
          <a:solidFill>
            <a:srgbClr val="141A45"/>
          </a:solidFill>
          <a:ln w="12700">
            <a:solidFill>
              <a:srgbClr val="F2A541"/>
            </a:solidFill>
            <a:prstDash val="solid"/>
          </a:ln>
        </p:spPr>
      </p:sp>
      <p:sp>
        <p:nvSpPr>
          <p:cNvPr id="7" name="Text 5"/>
          <p:cNvSpPr txBox="1"/>
          <p:nvPr/>
        </p:nvSpPr>
        <p:spPr>
          <a:xfrm>
            <a:off x="1051560" y="3611880"/>
            <a:ext cx="8321040" cy="1051560"/>
          </a:xfrm>
          <a:prstGeom prst="rect">
            <a:avLst/>
          </a:prstGeom>
          <a:noFill/>
          <a:ln/>
        </p:spPr>
        <p:txBody>
          <a:bodyPr wrap="square" lIns="0" tIns="0" rIns="0" bIns="0" rtlCol="0" anchor="ctr"/>
          <a:lstStyle/>
          <a:p>
            <a:pPr algn="l" indent="0" marL="0">
              <a:buNone/>
            </a:pPr>
            <a:r>
              <a:rPr lang="en-US" sz="1500" i="1" dirty="0">
                <a:solidFill>
                  <a:srgbClr val="CADCFC"/>
                </a:solidFill>
                <a:latin typeface="Cambria" pitchFamily="34" charset="0"/>
                <a:ea typeface="Cambria" pitchFamily="34" charset="-122"/>
                <a:cs typeface="Cambria" pitchFamily="34" charset="-120"/>
              </a:rPr>
              <a:t>“Dá para prever, com antecedência, se um município vai atingir a meta de alfabetização — antes do resultado acontecer?”</a:t>
            </a:r>
            <a:endParaRPr lang="en-US" sz="1500" dirty="0"/>
          </a:p>
        </p:txBody>
      </p:sp>
      <p:sp>
        <p:nvSpPr>
          <p:cNvPr id="8" name="Text 6"/>
          <p:cNvSpPr txBox="1"/>
          <p:nvPr/>
        </p:nvSpPr>
        <p:spPr>
          <a:xfrm>
            <a:off x="822960" y="5074920"/>
            <a:ext cx="2743200" cy="64008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512</a:t>
            </a:r>
            <a:endParaRPr lang="en-US" sz="3000" dirty="0"/>
          </a:p>
        </p:txBody>
      </p:sp>
      <p:sp>
        <p:nvSpPr>
          <p:cNvPr id="9" name="Text 7"/>
          <p:cNvSpPr txBox="1"/>
          <p:nvPr/>
        </p:nvSpPr>
        <p:spPr>
          <a:xfrm>
            <a:off x="822960" y="5715000"/>
            <a:ext cx="283464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municípios analisados</a:t>
            </a:r>
            <a:endParaRPr lang="en-US" sz="1200" dirty="0"/>
          </a:p>
        </p:txBody>
      </p:sp>
      <p:sp>
        <p:nvSpPr>
          <p:cNvPr id="10" name="Text 8"/>
          <p:cNvSpPr txBox="1"/>
          <p:nvPr/>
        </p:nvSpPr>
        <p:spPr>
          <a:xfrm>
            <a:off x="3886200" y="5074920"/>
            <a:ext cx="2743200" cy="64008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2021–24</a:t>
            </a:r>
            <a:endParaRPr lang="en-US" sz="3000" dirty="0"/>
          </a:p>
        </p:txBody>
      </p:sp>
      <p:sp>
        <p:nvSpPr>
          <p:cNvPr id="11" name="Text 9"/>
          <p:cNvSpPr txBox="1"/>
          <p:nvPr/>
        </p:nvSpPr>
        <p:spPr>
          <a:xfrm>
            <a:off x="3886200" y="5715000"/>
            <a:ext cx="283464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período (camada Gold)</a:t>
            </a:r>
            <a:endParaRPr lang="en-US" sz="1200" dirty="0"/>
          </a:p>
        </p:txBody>
      </p:sp>
      <p:sp>
        <p:nvSpPr>
          <p:cNvPr id="12" name="Text 10"/>
          <p:cNvSpPr txBox="1"/>
          <p:nvPr/>
        </p:nvSpPr>
        <p:spPr>
          <a:xfrm>
            <a:off x="6949440" y="5074920"/>
            <a:ext cx="2743200" cy="64008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96,4%</a:t>
            </a:r>
            <a:endParaRPr lang="en-US" sz="3000" dirty="0"/>
          </a:p>
        </p:txBody>
      </p:sp>
      <p:sp>
        <p:nvSpPr>
          <p:cNvPr id="13" name="Text 11"/>
          <p:cNvSpPr txBox="1"/>
          <p:nvPr/>
        </p:nvSpPr>
        <p:spPr>
          <a:xfrm>
            <a:off x="6949440" y="5715000"/>
            <a:ext cx="283464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ROC-AUC do modelo</a:t>
            </a:r>
            <a:endParaRPr lang="en-US" sz="1200" dirty="0"/>
          </a:p>
        </p:txBody>
      </p:sp>
      <p:sp>
        <p:nvSpPr>
          <p:cNvPr id="14" name="Text 12"/>
          <p:cNvSpPr txBox="1"/>
          <p:nvPr/>
        </p:nvSpPr>
        <p:spPr>
          <a:xfrm>
            <a:off x="11185855" y="6400800"/>
            <a:ext cx="731520" cy="274320"/>
          </a:xfrm>
          <a:prstGeom prst="rect">
            <a:avLst/>
          </a:prstGeom>
          <a:noFill/>
          <a:ln/>
        </p:spPr>
        <p:txBody>
          <a:bodyPr wrap="square" lIns="0" tIns="0" rIns="0" bIns="0" rtlCol="0" anchor="ctr"/>
          <a:lstStyle/>
          <a:p>
            <a:pPr algn="r" indent="0" marL="0">
              <a:buNone/>
            </a:pPr>
            <a:r>
              <a:rPr lang="en-US" sz="1000" dirty="0">
                <a:solidFill>
                  <a:srgbClr val="8B93C4"/>
                </a:solidFill>
                <a:latin typeface="Calibri" pitchFamily="34" charset="0"/>
                <a:ea typeface="Calibri" pitchFamily="34" charset="-122"/>
                <a:cs typeface="Calibri" pitchFamily="34" charset="-120"/>
              </a:rPr>
              <a:t>1 / 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O PROBLEMA EDUCACIONAL</a:t>
            </a:r>
            <a:endParaRPr lang="en-US" sz="1200" dirty="0"/>
          </a:p>
        </p:txBody>
      </p:sp>
      <p:sp>
        <p:nvSpPr>
          <p:cNvPr id="3" name="Text 1"/>
          <p:cNvSpPr txBox="1"/>
          <p:nvPr/>
        </p:nvSpPr>
        <p:spPr>
          <a:xfrm>
            <a:off x="640080" y="868680"/>
            <a:ext cx="6675120" cy="1005840"/>
          </a:xfrm>
          <a:prstGeom prst="rect">
            <a:avLst/>
          </a:prstGeom>
          <a:noFill/>
          <a:ln/>
        </p:spPr>
        <p:txBody>
          <a:bodyPr wrap="square" lIns="0" tIns="0" rIns="0" bIns="0" rtlCol="0" anchor="ctr"/>
          <a:lstStyle/>
          <a:p>
            <a:pPr indent="0" marL="0">
              <a:buNone/>
            </a:pPr>
            <a:r>
              <a:rPr lang="en-US" sz="2800" b="1" dirty="0">
                <a:solidFill>
                  <a:srgbClr val="1A1F3D"/>
                </a:solidFill>
                <a:latin typeface="Cambria" pitchFamily="34" charset="0"/>
                <a:ea typeface="Cambria" pitchFamily="34" charset="-122"/>
                <a:cs typeface="Cambria" pitchFamily="34" charset="-120"/>
              </a:rPr>
              <a:t>Hoje, o risco só é visto depois que já aconteceu</a:t>
            </a:r>
            <a:endParaRPr lang="en-US" sz="2800" dirty="0"/>
          </a:p>
        </p:txBody>
      </p:sp>
      <p:sp>
        <p:nvSpPr>
          <p:cNvPr id="4" name="Shape 2"/>
          <p:cNvSpPr/>
          <p:nvPr/>
        </p:nvSpPr>
        <p:spPr>
          <a:xfrm>
            <a:off x="640080" y="2139696"/>
            <a:ext cx="91440" cy="91440"/>
          </a:xfrm>
          <a:prstGeom prst="ellipse">
            <a:avLst/>
          </a:prstGeom>
          <a:solidFill>
            <a:srgbClr val="F2A541"/>
          </a:solidFill>
          <a:ln/>
        </p:spPr>
      </p:sp>
      <p:sp>
        <p:nvSpPr>
          <p:cNvPr id="5" name="Text 3"/>
          <p:cNvSpPr txBox="1"/>
          <p:nvPr/>
        </p:nvSpPr>
        <p:spPr>
          <a:xfrm>
            <a:off x="914400" y="2057400"/>
            <a:ext cx="6309360" cy="914400"/>
          </a:xfrm>
          <a:prstGeom prst="rect">
            <a:avLst/>
          </a:prstGeom>
          <a:noFill/>
          <a:ln/>
        </p:spPr>
        <p:txBody>
          <a:bodyPr wrap="square" lIns="0" tIns="0" rIns="0" bIns="0" rtlCol="0" anchor="ctr"/>
          <a:lstStyle/>
          <a:p>
            <a:pPr indent="0" marL="0">
              <a:lnSpc>
                <a:spcPct val="115000"/>
              </a:lnSpc>
              <a:buNone/>
            </a:pPr>
            <a:r>
              <a:rPr lang="en-US" sz="1500" dirty="0">
                <a:solidFill>
                  <a:srgbClr val="1A1F3D"/>
                </a:solidFill>
                <a:latin typeface="Calibri" pitchFamily="34" charset="0"/>
                <a:ea typeface="Calibri" pitchFamily="34" charset="-122"/>
                <a:cs typeface="Calibri" pitchFamily="34" charset="-120"/>
              </a:rPr>
              <a:t>A alfabetização infantil é um dos principais indicadores do desenvolvimento educacional e social do Brasil.</a:t>
            </a:r>
            <a:endParaRPr lang="en-US" sz="1500" dirty="0"/>
          </a:p>
        </p:txBody>
      </p:sp>
      <p:sp>
        <p:nvSpPr>
          <p:cNvPr id="6" name="Shape 4"/>
          <p:cNvSpPr/>
          <p:nvPr/>
        </p:nvSpPr>
        <p:spPr>
          <a:xfrm>
            <a:off x="640080" y="3191256"/>
            <a:ext cx="91440" cy="91440"/>
          </a:xfrm>
          <a:prstGeom prst="ellipse">
            <a:avLst/>
          </a:prstGeom>
          <a:solidFill>
            <a:srgbClr val="F2A541"/>
          </a:solidFill>
          <a:ln/>
        </p:spPr>
      </p:sp>
      <p:sp>
        <p:nvSpPr>
          <p:cNvPr id="7" name="Text 5"/>
          <p:cNvSpPr txBox="1"/>
          <p:nvPr/>
        </p:nvSpPr>
        <p:spPr>
          <a:xfrm>
            <a:off x="914400" y="3108960"/>
            <a:ext cx="6309360" cy="914400"/>
          </a:xfrm>
          <a:prstGeom prst="rect">
            <a:avLst/>
          </a:prstGeom>
          <a:noFill/>
          <a:ln/>
        </p:spPr>
        <p:txBody>
          <a:bodyPr wrap="square" lIns="0" tIns="0" rIns="0" bIns="0" rtlCol="0" anchor="ctr"/>
          <a:lstStyle/>
          <a:p>
            <a:pPr indent="0" marL="0">
              <a:lnSpc>
                <a:spcPct val="115000"/>
              </a:lnSpc>
              <a:buNone/>
            </a:pPr>
            <a:r>
              <a:rPr lang="en-US" sz="1500" dirty="0">
                <a:solidFill>
                  <a:srgbClr val="1A1F3D"/>
                </a:solidFill>
                <a:latin typeface="Calibri" pitchFamily="34" charset="0"/>
                <a:ea typeface="Calibri" pitchFamily="34" charset="-122"/>
                <a:cs typeface="Calibri" pitchFamily="34" charset="-120"/>
              </a:rPr>
              <a:t>Gestores públicos avaliam o resultado do indicador só ao final do ciclo — quando já não há mais tempo de agir sobre aquele ano.</a:t>
            </a:r>
            <a:endParaRPr lang="en-US" sz="1500" dirty="0"/>
          </a:p>
        </p:txBody>
      </p:sp>
      <p:sp>
        <p:nvSpPr>
          <p:cNvPr id="8" name="Shape 6"/>
          <p:cNvSpPr/>
          <p:nvPr/>
        </p:nvSpPr>
        <p:spPr>
          <a:xfrm>
            <a:off x="640080" y="4242816"/>
            <a:ext cx="91440" cy="91440"/>
          </a:xfrm>
          <a:prstGeom prst="ellipse">
            <a:avLst/>
          </a:prstGeom>
          <a:solidFill>
            <a:srgbClr val="F2A541"/>
          </a:solidFill>
          <a:ln/>
        </p:spPr>
      </p:sp>
      <p:sp>
        <p:nvSpPr>
          <p:cNvPr id="9" name="Text 7"/>
          <p:cNvSpPr txBox="1"/>
          <p:nvPr/>
        </p:nvSpPr>
        <p:spPr>
          <a:xfrm>
            <a:off x="914400" y="4160520"/>
            <a:ext cx="6309360" cy="914400"/>
          </a:xfrm>
          <a:prstGeom prst="rect">
            <a:avLst/>
          </a:prstGeom>
          <a:noFill/>
          <a:ln/>
        </p:spPr>
        <p:txBody>
          <a:bodyPr wrap="square" lIns="0" tIns="0" rIns="0" bIns="0" rtlCol="0" anchor="ctr"/>
          <a:lstStyle/>
          <a:p>
            <a:pPr indent="0" marL="0">
              <a:lnSpc>
                <a:spcPct val="115000"/>
              </a:lnSpc>
              <a:buNone/>
            </a:pPr>
            <a:r>
              <a:rPr lang="en-US" sz="1500" dirty="0">
                <a:solidFill>
                  <a:srgbClr val="1A1F3D"/>
                </a:solidFill>
                <a:latin typeface="Calibri" pitchFamily="34" charset="0"/>
                <a:ea typeface="Calibri" pitchFamily="34" charset="-122"/>
                <a:cs typeface="Calibri" pitchFamily="34" charset="-120"/>
              </a:rPr>
              <a:t>Faltava uma forma de antecipar risco, priorizar recursos e direcionar política antes do resultado se concretizar.</a:t>
            </a:r>
            <a:endParaRPr lang="en-US" sz="1500" dirty="0"/>
          </a:p>
        </p:txBody>
      </p:sp>
      <p:sp>
        <p:nvSpPr>
          <p:cNvPr id="10" name="Shape 8"/>
          <p:cNvSpPr/>
          <p:nvPr/>
        </p:nvSpPr>
        <p:spPr>
          <a:xfrm>
            <a:off x="7635240" y="1188720"/>
            <a:ext cx="3931920" cy="4480560"/>
          </a:xfrm>
          <a:prstGeom prst="roundRect">
            <a:avLst>
              <a:gd name="adj" fmla="val 2791"/>
            </a:avLst>
          </a:prstGeom>
          <a:solidFill>
            <a:srgbClr val="1E2761"/>
          </a:solidFill>
          <a:ln/>
        </p:spPr>
      </p:sp>
      <p:sp>
        <p:nvSpPr>
          <p:cNvPr id="11" name="Text 9"/>
          <p:cNvSpPr txBox="1"/>
          <p:nvPr/>
        </p:nvSpPr>
        <p:spPr>
          <a:xfrm>
            <a:off x="8001000" y="1554480"/>
            <a:ext cx="3200400" cy="365760"/>
          </a:xfrm>
          <a:prstGeom prst="rect">
            <a:avLst/>
          </a:prstGeom>
          <a:noFill/>
          <a:ln/>
        </p:spPr>
        <p:txBody>
          <a:bodyPr wrap="square" lIns="0" tIns="0" rIns="0" bIns="0"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PERGUNTA-GUIA DO PROJETO</a:t>
            </a:r>
            <a:endParaRPr lang="en-US" sz="1100" dirty="0"/>
          </a:p>
        </p:txBody>
      </p:sp>
      <p:sp>
        <p:nvSpPr>
          <p:cNvPr id="12" name="Text 10"/>
          <p:cNvSpPr txBox="1"/>
          <p:nvPr/>
        </p:nvSpPr>
        <p:spPr>
          <a:xfrm>
            <a:off x="8001000" y="2011680"/>
            <a:ext cx="3200400" cy="1463040"/>
          </a:xfrm>
          <a:prstGeom prst="rect">
            <a:avLst/>
          </a:prstGeom>
          <a:noFill/>
          <a:ln/>
        </p:spPr>
        <p:txBody>
          <a:bodyPr wrap="square" lIns="0" tIns="0" rIns="0" bIns="0" rtlCol="0" anchor="ctr"/>
          <a:lstStyle/>
          <a:p>
            <a:pPr indent="0" marL="0">
              <a:lnSpc>
                <a:spcPct val="115000"/>
              </a:lnSpc>
              <a:buNone/>
            </a:pPr>
            <a:r>
              <a:rPr lang="en-US" sz="1900" b="1" dirty="0">
                <a:solidFill>
                  <a:srgbClr val="FFFFFF"/>
                </a:solidFill>
                <a:latin typeface="Cambria" pitchFamily="34" charset="0"/>
                <a:ea typeface="Cambria" pitchFamily="34" charset="-122"/>
                <a:cs typeface="Cambria" pitchFamily="34" charset="-120"/>
              </a:rPr>
              <a:t>Quais municípios correm maior risco de não atingir a meta — e por quê?</a:t>
            </a:r>
            <a:endParaRPr lang="en-US" sz="1900" dirty="0"/>
          </a:p>
        </p:txBody>
      </p:sp>
      <p:sp>
        <p:nvSpPr>
          <p:cNvPr id="13" name="Shape 11"/>
          <p:cNvSpPr/>
          <p:nvPr/>
        </p:nvSpPr>
        <p:spPr>
          <a:xfrm>
            <a:off x="8001000" y="3611880"/>
            <a:ext cx="3200400" cy="0"/>
          </a:xfrm>
          <a:prstGeom prst="line">
            <a:avLst/>
          </a:prstGeom>
          <a:noFill/>
          <a:ln w="12700">
            <a:solidFill>
              <a:srgbClr val="3A4380"/>
            </a:solidFill>
            <a:prstDash val="solid"/>
          </a:ln>
        </p:spPr>
      </p:sp>
      <p:sp>
        <p:nvSpPr>
          <p:cNvPr id="14" name="Text 12"/>
          <p:cNvSpPr txBox="1"/>
          <p:nvPr/>
        </p:nvSpPr>
        <p:spPr>
          <a:xfrm>
            <a:off x="8001000" y="3794760"/>
            <a:ext cx="3200400" cy="173736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Transformar dado público (camada Gold, Fase 2) em inteligência preditiva aplicável à tomada de decisão. </a:t>
            </a:r>
            <a:pPr indent="0" marL="0">
              <a:lnSpc>
                <a:spcPct val="120000"/>
              </a:lnSpc>
              <a:buNone/>
            </a:pPr>
            <a:r>
              <a:rPr lang="en-US" sz="1250" b="1" dirty="0">
                <a:solidFill>
                  <a:srgbClr val="FFFFFF"/>
                </a:solidFill>
                <a:latin typeface="Calibri" pitchFamily="34" charset="0"/>
                <a:ea typeface="Calibri" pitchFamily="34" charset="-122"/>
                <a:cs typeface="Calibri" pitchFamily="34" charset="-120"/>
              </a:rPr>
              <a:t>"Aluno alfabetizado" aqui é a probabilidade de um aluno daquele município ser alfabetizado</a:t>
            </a:r>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 — o nível que o dado público sustenta, respeitando a LGPD.</a:t>
            </a:r>
            <a:endParaRPr lang="en-US" sz="1250" dirty="0"/>
          </a:p>
        </p:txBody>
      </p:sp>
      <p:sp>
        <p:nvSpPr>
          <p:cNvPr id="15" name="Text 13"/>
          <p:cNvSpPr txBox="1"/>
          <p:nvPr/>
        </p:nvSpPr>
        <p:spPr>
          <a:xfrm>
            <a:off x="11185855" y="6400800"/>
            <a:ext cx="731520" cy="274320"/>
          </a:xfrm>
          <a:prstGeom prst="rect">
            <a:avLst/>
          </a:prstGeom>
          <a:noFill/>
          <a:ln/>
        </p:spPr>
        <p:txBody>
          <a:bodyPr wrap="square" lIns="0" tIns="0" rIns="0" bIns="0" rtlCol="0" anchor="ctr"/>
          <a:lstStyle/>
          <a:p>
            <a:pPr algn="r" indent="0" marL="0">
              <a:buNone/>
            </a:pPr>
            <a:r>
              <a:rPr lang="en-US" sz="1000" dirty="0">
                <a:solidFill>
                  <a:srgbClr val="A9AFC9"/>
                </a:solidFill>
                <a:latin typeface="Calibri" pitchFamily="34" charset="0"/>
                <a:ea typeface="Calibri" pitchFamily="34" charset="-122"/>
                <a:cs typeface="Calibri" pitchFamily="34" charset="-120"/>
              </a:rPr>
              <a:t>2 / 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PRINCIPAL INSIGHT</a:t>
            </a:r>
            <a:endParaRPr lang="en-US" sz="1200" dirty="0"/>
          </a:p>
        </p:txBody>
      </p:sp>
      <p:sp>
        <p:nvSpPr>
          <p:cNvPr id="3" name="Text 1"/>
          <p:cNvSpPr txBox="1"/>
          <p:nvPr/>
        </p:nvSpPr>
        <p:spPr>
          <a:xfrm>
            <a:off x="640080" y="868680"/>
            <a:ext cx="10881360" cy="822960"/>
          </a:xfrm>
          <a:prstGeom prst="rect">
            <a:avLst/>
          </a:prstGeom>
          <a:noFill/>
          <a:ln/>
        </p:spPr>
        <p:txBody>
          <a:bodyPr wrap="square" lIns="0" tIns="0" rIns="0" bIns="0" rtlCol="0" anchor="ctr"/>
          <a:lstStyle/>
          <a:p>
            <a:pPr indent="0" marL="0">
              <a:buNone/>
            </a:pPr>
            <a:r>
              <a:rPr lang="en-US" sz="2600" b="1" dirty="0">
                <a:solidFill>
                  <a:srgbClr val="1A1F3D"/>
                </a:solidFill>
                <a:latin typeface="Cambria" pitchFamily="34" charset="0"/>
                <a:ea typeface="Cambria" pitchFamily="34" charset="-122"/>
                <a:cs typeface="Cambria" pitchFamily="34" charset="-120"/>
              </a:rPr>
              <a:t>Uma clivagem estrutural, não uma diferença marginal</a:t>
            </a:r>
            <a:endParaRPr lang="en-US" sz="2600" dirty="0"/>
          </a:p>
        </p:txBody>
      </p:sp>
      <p:graphicFrame>
        <p:nvGraphicFramePr>
          <p:cNvPr id="4" name="Chart 0" descr=""/>
          <p:cNvGraphicFramePr/>
          <p:nvPr/>
        </p:nvGraphicFramePr>
        <p:xfrm>
          <a:off x="640080" y="1874520"/>
          <a:ext cx="6675120" cy="42976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874520"/>
            <a:ext cx="3931920" cy="1920240"/>
          </a:xfrm>
          <a:prstGeom prst="roundRect">
            <a:avLst>
              <a:gd name="adj" fmla="val 4762"/>
            </a:avLst>
          </a:prstGeom>
          <a:solidFill>
            <a:srgbClr val="F4F6FC"/>
          </a:solidFill>
          <a:ln/>
        </p:spPr>
      </p:sp>
      <p:sp>
        <p:nvSpPr>
          <p:cNvPr id="6" name="Text 3"/>
          <p:cNvSpPr txBox="1"/>
          <p:nvPr/>
        </p:nvSpPr>
        <p:spPr>
          <a:xfrm>
            <a:off x="7909560" y="2011680"/>
            <a:ext cx="3383280" cy="685800"/>
          </a:xfrm>
          <a:prstGeom prst="rect">
            <a:avLst/>
          </a:prstGeom>
          <a:noFill/>
          <a:ln/>
        </p:spPr>
        <p:txBody>
          <a:bodyPr wrap="square" lIns="0" tIns="0" rIns="0" bIns="0" rtlCol="0" anchor="ctr"/>
          <a:lstStyle/>
          <a:p>
            <a:pPr indent="0" marL="0">
              <a:buNone/>
            </a:pPr>
            <a:r>
              <a:rPr lang="en-US" sz="3200" b="1" dirty="0">
                <a:solidFill>
                  <a:srgbClr val="3C8D5A"/>
                </a:solidFill>
                <a:latin typeface="Cambria" pitchFamily="34" charset="0"/>
                <a:ea typeface="Cambria" pitchFamily="34" charset="-122"/>
                <a:cs typeface="Cambria" pitchFamily="34" charset="-120"/>
              </a:rPr>
              <a:t>97,8%</a:t>
            </a:r>
            <a:endParaRPr lang="en-US" sz="3200" dirty="0"/>
          </a:p>
        </p:txBody>
      </p:sp>
      <p:sp>
        <p:nvSpPr>
          <p:cNvPr id="7" name="Text 4"/>
          <p:cNvSpPr txBox="1"/>
          <p:nvPr/>
        </p:nvSpPr>
        <p:spPr>
          <a:xfrm>
            <a:off x="7909560" y="2697480"/>
            <a:ext cx="3383280" cy="822960"/>
          </a:xfrm>
          <a:prstGeom prst="rect">
            <a:avLst/>
          </a:prstGeom>
          <a:noFill/>
          <a:ln/>
        </p:spPr>
        <p:txBody>
          <a:bodyPr wrap="square" lIns="0" tIns="0" rIns="0" bIns="0" rtlCol="0" anchor="ctr"/>
          <a:lstStyle/>
          <a:p>
            <a:pPr indent="0" marL="0">
              <a:lnSpc>
                <a:spcPct val="115000"/>
              </a:lnSpc>
              <a:buNone/>
            </a:pPr>
            <a:r>
              <a:rPr lang="en-US" sz="1250" dirty="0">
                <a:solidFill>
                  <a:srgbClr val="5B6291"/>
                </a:solidFill>
                <a:latin typeface="Calibri" pitchFamily="34" charset="0"/>
                <a:ea typeface="Calibri" pitchFamily="34" charset="-122"/>
                <a:cs typeface="Calibri" pitchFamily="34" charset="-120"/>
              </a:rPr>
              <a:t>dos município-ano do Sul atingiram a meta</a:t>
            </a:r>
            <a:endParaRPr lang="en-US" sz="1250" dirty="0"/>
          </a:p>
        </p:txBody>
      </p:sp>
      <p:sp>
        <p:nvSpPr>
          <p:cNvPr id="8" name="Shape 5"/>
          <p:cNvSpPr/>
          <p:nvPr/>
        </p:nvSpPr>
        <p:spPr>
          <a:xfrm>
            <a:off x="7635240" y="3931920"/>
            <a:ext cx="3931920" cy="1920240"/>
          </a:xfrm>
          <a:prstGeom prst="roundRect">
            <a:avLst>
              <a:gd name="adj" fmla="val 4762"/>
            </a:avLst>
          </a:prstGeom>
          <a:solidFill>
            <a:srgbClr val="F4F6FC"/>
          </a:solidFill>
          <a:ln/>
        </p:spPr>
      </p:sp>
      <p:sp>
        <p:nvSpPr>
          <p:cNvPr id="9" name="Text 6"/>
          <p:cNvSpPr txBox="1"/>
          <p:nvPr/>
        </p:nvSpPr>
        <p:spPr>
          <a:xfrm>
            <a:off x="7909560" y="4069080"/>
            <a:ext cx="3383280" cy="685800"/>
          </a:xfrm>
          <a:prstGeom prst="rect">
            <a:avLst/>
          </a:prstGeom>
          <a:noFill/>
          <a:ln/>
        </p:spPr>
        <p:txBody>
          <a:bodyPr wrap="square" lIns="0" tIns="0" rIns="0" bIns="0" rtlCol="0" anchor="ctr"/>
          <a:lstStyle/>
          <a:p>
            <a:pPr indent="0" marL="0">
              <a:buNone/>
            </a:pPr>
            <a:r>
              <a:rPr lang="en-US" sz="3200" b="1" dirty="0">
                <a:solidFill>
                  <a:srgbClr val="C1443C"/>
                </a:solidFill>
                <a:latin typeface="Cambria" pitchFamily="34" charset="0"/>
                <a:ea typeface="Cambria" pitchFamily="34" charset="-122"/>
                <a:cs typeface="Cambria" pitchFamily="34" charset="-120"/>
              </a:rPr>
              <a:t>2,0%</a:t>
            </a:r>
            <a:endParaRPr lang="en-US" sz="3200" dirty="0"/>
          </a:p>
        </p:txBody>
      </p:sp>
      <p:sp>
        <p:nvSpPr>
          <p:cNvPr id="10" name="Text 7"/>
          <p:cNvSpPr txBox="1"/>
          <p:nvPr/>
        </p:nvSpPr>
        <p:spPr>
          <a:xfrm>
            <a:off x="7909560" y="4754880"/>
            <a:ext cx="3383280" cy="822960"/>
          </a:xfrm>
          <a:prstGeom prst="rect">
            <a:avLst/>
          </a:prstGeom>
          <a:noFill/>
          <a:ln/>
        </p:spPr>
        <p:txBody>
          <a:bodyPr wrap="square" lIns="0" tIns="0" rIns="0" bIns="0" rtlCol="0" anchor="ctr"/>
          <a:lstStyle/>
          <a:p>
            <a:pPr indent="0" marL="0">
              <a:lnSpc>
                <a:spcPct val="115000"/>
              </a:lnSpc>
              <a:buNone/>
            </a:pPr>
            <a:r>
              <a:rPr lang="en-US" sz="1250" dirty="0">
                <a:solidFill>
                  <a:srgbClr val="5B6291"/>
                </a:solidFill>
                <a:latin typeface="Calibri" pitchFamily="34" charset="0"/>
                <a:ea typeface="Calibri" pitchFamily="34" charset="-122"/>
                <a:cs typeface="Calibri" pitchFamily="34" charset="-120"/>
              </a:rPr>
              <a:t>dos município-ano do Nordeste atingiram a meta</a:t>
            </a:r>
            <a:endParaRPr lang="en-US" sz="1250" dirty="0"/>
          </a:p>
        </p:txBody>
      </p:sp>
      <p:sp>
        <p:nvSpPr>
          <p:cNvPr id="11" name="Text 8"/>
          <p:cNvSpPr txBox="1"/>
          <p:nvPr/>
        </p:nvSpPr>
        <p:spPr>
          <a:xfrm>
            <a:off x="11185855" y="6400800"/>
            <a:ext cx="731520" cy="274320"/>
          </a:xfrm>
          <a:prstGeom prst="rect">
            <a:avLst/>
          </a:prstGeom>
          <a:noFill/>
          <a:ln/>
        </p:spPr>
        <p:txBody>
          <a:bodyPr wrap="square" lIns="0" tIns="0" rIns="0" bIns="0" rtlCol="0" anchor="ctr"/>
          <a:lstStyle/>
          <a:p>
            <a:pPr algn="r" indent="0" marL="0">
              <a:buNone/>
            </a:pPr>
            <a:r>
              <a:rPr lang="en-US" sz="1000" dirty="0">
                <a:solidFill>
                  <a:srgbClr val="A9AFC9"/>
                </a:solidFill>
                <a:latin typeface="Calibri" pitchFamily="34" charset="0"/>
                <a:ea typeface="Calibri" pitchFamily="34" charset="-122"/>
                <a:cs typeface="Calibri" pitchFamily="34" charset="-120"/>
              </a:rPr>
              <a:t>3 / 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POR TRÁS DO INSIGHT — COMO O MODELO FOI CONSTRUÍDO</a:t>
            </a:r>
            <a:endParaRPr lang="en-US" sz="1200" dirty="0"/>
          </a:p>
        </p:txBody>
      </p:sp>
      <p:sp>
        <p:nvSpPr>
          <p:cNvPr id="3" name="Text 1"/>
          <p:cNvSpPr txBox="1"/>
          <p:nvPr/>
        </p:nvSpPr>
        <p:spPr>
          <a:xfrm>
            <a:off x="640080" y="868680"/>
            <a:ext cx="108813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Pipeline de Machine Learning ponta a ponta</a:t>
            </a:r>
            <a:endParaRPr lang="en-US" sz="2600" dirty="0"/>
          </a:p>
        </p:txBody>
      </p:sp>
      <p:sp>
        <p:nvSpPr>
          <p:cNvPr id="4" name="Shape 2"/>
          <p:cNvSpPr/>
          <p:nvPr/>
        </p:nvSpPr>
        <p:spPr>
          <a:xfrm>
            <a:off x="640080" y="1965960"/>
            <a:ext cx="1965960" cy="2148840"/>
          </a:xfrm>
          <a:prstGeom prst="roundRect">
            <a:avLst>
              <a:gd name="adj" fmla="val 3721"/>
            </a:avLst>
          </a:prstGeom>
          <a:solidFill>
            <a:srgbClr val="141A45"/>
          </a:solidFill>
          <a:ln/>
        </p:spPr>
      </p:sp>
      <p:sp>
        <p:nvSpPr>
          <p:cNvPr id="5" name="Shape 3"/>
          <p:cNvSpPr/>
          <p:nvPr/>
        </p:nvSpPr>
        <p:spPr>
          <a:xfrm>
            <a:off x="804672" y="2148840"/>
            <a:ext cx="384048" cy="384048"/>
          </a:xfrm>
          <a:prstGeom prst="ellipse">
            <a:avLst/>
          </a:prstGeom>
          <a:solidFill>
            <a:srgbClr val="F2A541"/>
          </a:solidFill>
          <a:ln/>
        </p:spPr>
      </p:sp>
      <p:sp>
        <p:nvSpPr>
          <p:cNvPr id="6" name="Text 4"/>
          <p:cNvSpPr txBox="1"/>
          <p:nvPr/>
        </p:nvSpPr>
        <p:spPr>
          <a:xfrm>
            <a:off x="804672" y="2148840"/>
            <a:ext cx="384048" cy="384048"/>
          </a:xfrm>
          <a:prstGeom prst="rect">
            <a:avLst/>
          </a:prstGeom>
          <a:noFill/>
          <a:ln/>
        </p:spPr>
        <p:txBody>
          <a:bodyPr wrap="square" lIns="0" tIns="0" rIns="0" bIns="0" rtlCol="0" anchor="ctr"/>
          <a:lstStyle/>
          <a:p>
            <a:pPr algn="ctr" indent="0" marL="0">
              <a:buNone/>
            </a:pPr>
            <a:r>
              <a:rPr lang="en-US" sz="1600" b="1" dirty="0">
                <a:solidFill>
                  <a:srgbClr val="141A45"/>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804672" y="2679192"/>
            <a:ext cx="1636776"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Extração</a:t>
            </a:r>
            <a:endParaRPr lang="en-US" sz="1450" dirty="0"/>
          </a:p>
        </p:txBody>
      </p:sp>
      <p:sp>
        <p:nvSpPr>
          <p:cNvPr id="8" name="Text 6"/>
          <p:cNvSpPr txBox="1"/>
          <p:nvPr/>
        </p:nvSpPr>
        <p:spPr>
          <a:xfrm>
            <a:off x="804672" y="3172968"/>
            <a:ext cx="1636776" cy="10058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7 tabelas da camada</a:t>
            </a:r>
            <a:endParaRPr lang="en-US" sz="1100" dirty="0"/>
          </a:p>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Gold via BigQuery</a:t>
            </a:r>
            <a:endParaRPr lang="en-US" sz="1100" dirty="0"/>
          </a:p>
        </p:txBody>
      </p:sp>
      <p:sp>
        <p:nvSpPr>
          <p:cNvPr id="9" name="Shape 7"/>
          <p:cNvSpPr/>
          <p:nvPr/>
        </p:nvSpPr>
        <p:spPr>
          <a:xfrm>
            <a:off x="2578608" y="2930652"/>
            <a:ext cx="219456" cy="219456"/>
          </a:xfrm>
          <a:prstGeom prst="rightArrow">
            <a:avLst/>
          </a:prstGeom>
          <a:solidFill>
            <a:srgbClr val="F2A541"/>
          </a:solidFill>
          <a:ln/>
        </p:spPr>
      </p:sp>
      <p:sp>
        <p:nvSpPr>
          <p:cNvPr id="10" name="Shape 8"/>
          <p:cNvSpPr/>
          <p:nvPr/>
        </p:nvSpPr>
        <p:spPr>
          <a:xfrm>
            <a:off x="2770632" y="1965960"/>
            <a:ext cx="1965960" cy="2148840"/>
          </a:xfrm>
          <a:prstGeom prst="roundRect">
            <a:avLst>
              <a:gd name="adj" fmla="val 3721"/>
            </a:avLst>
          </a:prstGeom>
          <a:solidFill>
            <a:srgbClr val="141A45"/>
          </a:solidFill>
          <a:ln/>
        </p:spPr>
      </p:sp>
      <p:sp>
        <p:nvSpPr>
          <p:cNvPr id="11" name="Shape 9"/>
          <p:cNvSpPr/>
          <p:nvPr/>
        </p:nvSpPr>
        <p:spPr>
          <a:xfrm>
            <a:off x="2935224" y="2148840"/>
            <a:ext cx="384048" cy="384048"/>
          </a:xfrm>
          <a:prstGeom prst="ellipse">
            <a:avLst/>
          </a:prstGeom>
          <a:solidFill>
            <a:srgbClr val="F2A541"/>
          </a:solidFill>
          <a:ln/>
        </p:spPr>
      </p:sp>
      <p:sp>
        <p:nvSpPr>
          <p:cNvPr id="12" name="Text 10"/>
          <p:cNvSpPr txBox="1"/>
          <p:nvPr/>
        </p:nvSpPr>
        <p:spPr>
          <a:xfrm>
            <a:off x="2935224" y="2148840"/>
            <a:ext cx="384048" cy="384048"/>
          </a:xfrm>
          <a:prstGeom prst="rect">
            <a:avLst/>
          </a:prstGeom>
          <a:noFill/>
          <a:ln/>
        </p:spPr>
        <p:txBody>
          <a:bodyPr wrap="square" lIns="0" tIns="0" rIns="0" bIns="0" rtlCol="0" anchor="ctr"/>
          <a:lstStyle/>
          <a:p>
            <a:pPr algn="ctr" indent="0" marL="0">
              <a:buNone/>
            </a:pPr>
            <a:r>
              <a:rPr lang="en-US" sz="1600" b="1" dirty="0">
                <a:solidFill>
                  <a:srgbClr val="141A45"/>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2935224" y="2679192"/>
            <a:ext cx="1636776"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Features + Alvo</a:t>
            </a:r>
            <a:endParaRPr lang="en-US" sz="1450" dirty="0"/>
          </a:p>
        </p:txBody>
      </p:sp>
      <p:sp>
        <p:nvSpPr>
          <p:cNvPr id="14" name="Text 12"/>
          <p:cNvSpPr txBox="1"/>
          <p:nvPr/>
        </p:nvSpPr>
        <p:spPr>
          <a:xfrm>
            <a:off x="2935224" y="3172968"/>
            <a:ext cx="1636776" cy="10058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Lags de 1 ano por</a:t>
            </a:r>
            <a:endParaRPr lang="en-US" sz="1100" dirty="0"/>
          </a:p>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município — sem data leakage</a:t>
            </a:r>
            <a:endParaRPr lang="en-US" sz="1100" dirty="0"/>
          </a:p>
        </p:txBody>
      </p:sp>
      <p:sp>
        <p:nvSpPr>
          <p:cNvPr id="15" name="Shape 13"/>
          <p:cNvSpPr/>
          <p:nvPr/>
        </p:nvSpPr>
        <p:spPr>
          <a:xfrm>
            <a:off x="4709160" y="2930652"/>
            <a:ext cx="219456" cy="219456"/>
          </a:xfrm>
          <a:prstGeom prst="rightArrow">
            <a:avLst/>
          </a:prstGeom>
          <a:solidFill>
            <a:srgbClr val="F2A541"/>
          </a:solidFill>
          <a:ln/>
        </p:spPr>
      </p:sp>
      <p:sp>
        <p:nvSpPr>
          <p:cNvPr id="16" name="Shape 14"/>
          <p:cNvSpPr/>
          <p:nvPr/>
        </p:nvSpPr>
        <p:spPr>
          <a:xfrm>
            <a:off x="4901184" y="1965960"/>
            <a:ext cx="1965960" cy="2148840"/>
          </a:xfrm>
          <a:prstGeom prst="roundRect">
            <a:avLst>
              <a:gd name="adj" fmla="val 3721"/>
            </a:avLst>
          </a:prstGeom>
          <a:solidFill>
            <a:srgbClr val="141A45"/>
          </a:solidFill>
          <a:ln/>
        </p:spPr>
      </p:sp>
      <p:sp>
        <p:nvSpPr>
          <p:cNvPr id="17" name="Shape 15"/>
          <p:cNvSpPr/>
          <p:nvPr/>
        </p:nvSpPr>
        <p:spPr>
          <a:xfrm>
            <a:off x="5065776" y="2148840"/>
            <a:ext cx="384048" cy="384048"/>
          </a:xfrm>
          <a:prstGeom prst="ellipse">
            <a:avLst/>
          </a:prstGeom>
          <a:solidFill>
            <a:srgbClr val="F2A541"/>
          </a:solidFill>
          <a:ln/>
        </p:spPr>
      </p:sp>
      <p:sp>
        <p:nvSpPr>
          <p:cNvPr id="18" name="Text 16"/>
          <p:cNvSpPr txBox="1"/>
          <p:nvPr/>
        </p:nvSpPr>
        <p:spPr>
          <a:xfrm>
            <a:off x="5065776" y="2148840"/>
            <a:ext cx="384048" cy="384048"/>
          </a:xfrm>
          <a:prstGeom prst="rect">
            <a:avLst/>
          </a:prstGeom>
          <a:noFill/>
          <a:ln/>
        </p:spPr>
        <p:txBody>
          <a:bodyPr wrap="square" lIns="0" tIns="0" rIns="0" bIns="0" rtlCol="0" anchor="ctr"/>
          <a:lstStyle/>
          <a:p>
            <a:pPr algn="ctr" indent="0" marL="0">
              <a:buNone/>
            </a:pPr>
            <a:r>
              <a:rPr lang="en-US" sz="1600" b="1" dirty="0">
                <a:solidFill>
                  <a:srgbClr val="141A45"/>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5065776" y="2679192"/>
            <a:ext cx="1636776"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Pipeline sklearn</a:t>
            </a:r>
            <a:endParaRPr lang="en-US" sz="1450" dirty="0"/>
          </a:p>
        </p:txBody>
      </p:sp>
      <p:sp>
        <p:nvSpPr>
          <p:cNvPr id="20" name="Text 18"/>
          <p:cNvSpPr txBox="1"/>
          <p:nvPr/>
        </p:nvSpPr>
        <p:spPr>
          <a:xfrm>
            <a:off x="5065776" y="3172968"/>
            <a:ext cx="1636776" cy="10058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Imputação, encoding,</a:t>
            </a:r>
            <a:endParaRPr lang="en-US" sz="1100" dirty="0"/>
          </a:p>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padronização + modelo integrados</a:t>
            </a:r>
            <a:endParaRPr lang="en-US" sz="1100" dirty="0"/>
          </a:p>
        </p:txBody>
      </p:sp>
      <p:sp>
        <p:nvSpPr>
          <p:cNvPr id="21" name="Shape 19"/>
          <p:cNvSpPr/>
          <p:nvPr/>
        </p:nvSpPr>
        <p:spPr>
          <a:xfrm>
            <a:off x="6839712" y="2930652"/>
            <a:ext cx="219456" cy="219456"/>
          </a:xfrm>
          <a:prstGeom prst="rightArrow">
            <a:avLst/>
          </a:prstGeom>
          <a:solidFill>
            <a:srgbClr val="F2A541"/>
          </a:solidFill>
          <a:ln/>
        </p:spPr>
      </p:sp>
      <p:sp>
        <p:nvSpPr>
          <p:cNvPr id="22" name="Shape 20"/>
          <p:cNvSpPr/>
          <p:nvPr/>
        </p:nvSpPr>
        <p:spPr>
          <a:xfrm>
            <a:off x="7031736" y="1965960"/>
            <a:ext cx="1965960" cy="2148840"/>
          </a:xfrm>
          <a:prstGeom prst="roundRect">
            <a:avLst>
              <a:gd name="adj" fmla="val 3721"/>
            </a:avLst>
          </a:prstGeom>
          <a:solidFill>
            <a:srgbClr val="141A45"/>
          </a:solidFill>
          <a:ln/>
        </p:spPr>
      </p:sp>
      <p:sp>
        <p:nvSpPr>
          <p:cNvPr id="23" name="Shape 21"/>
          <p:cNvSpPr/>
          <p:nvPr/>
        </p:nvSpPr>
        <p:spPr>
          <a:xfrm>
            <a:off x="7196328" y="2148840"/>
            <a:ext cx="384048" cy="384048"/>
          </a:xfrm>
          <a:prstGeom prst="ellipse">
            <a:avLst/>
          </a:prstGeom>
          <a:solidFill>
            <a:srgbClr val="F2A541"/>
          </a:solidFill>
          <a:ln/>
        </p:spPr>
      </p:sp>
      <p:sp>
        <p:nvSpPr>
          <p:cNvPr id="24" name="Text 22"/>
          <p:cNvSpPr txBox="1"/>
          <p:nvPr/>
        </p:nvSpPr>
        <p:spPr>
          <a:xfrm>
            <a:off x="7196328" y="2148840"/>
            <a:ext cx="384048" cy="384048"/>
          </a:xfrm>
          <a:prstGeom prst="rect">
            <a:avLst/>
          </a:prstGeom>
          <a:noFill/>
          <a:ln/>
        </p:spPr>
        <p:txBody>
          <a:bodyPr wrap="square" lIns="0" tIns="0" rIns="0" bIns="0" rtlCol="0" anchor="ctr"/>
          <a:lstStyle/>
          <a:p>
            <a:pPr algn="ctr" indent="0" marL="0">
              <a:buNone/>
            </a:pPr>
            <a:r>
              <a:rPr lang="en-US" sz="1600" b="1" dirty="0">
                <a:solidFill>
                  <a:srgbClr val="141A45"/>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7196328" y="2679192"/>
            <a:ext cx="1636776"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Validação temporal</a:t>
            </a:r>
            <a:endParaRPr lang="en-US" sz="1450" dirty="0"/>
          </a:p>
        </p:txBody>
      </p:sp>
      <p:sp>
        <p:nvSpPr>
          <p:cNvPr id="26" name="Text 24"/>
          <p:cNvSpPr txBox="1"/>
          <p:nvPr/>
        </p:nvSpPr>
        <p:spPr>
          <a:xfrm>
            <a:off x="7196328" y="3172968"/>
            <a:ext cx="1636776" cy="10058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Treino 2022–23</a:t>
            </a:r>
            <a:endParaRPr lang="en-US" sz="1100" dirty="0"/>
          </a:p>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Teste 2024 (holdout real)</a:t>
            </a:r>
            <a:endParaRPr lang="en-US" sz="1100" dirty="0"/>
          </a:p>
        </p:txBody>
      </p:sp>
      <p:sp>
        <p:nvSpPr>
          <p:cNvPr id="27" name="Shape 25"/>
          <p:cNvSpPr/>
          <p:nvPr/>
        </p:nvSpPr>
        <p:spPr>
          <a:xfrm>
            <a:off x="8970264" y="2930652"/>
            <a:ext cx="219456" cy="219456"/>
          </a:xfrm>
          <a:prstGeom prst="rightArrow">
            <a:avLst/>
          </a:prstGeom>
          <a:solidFill>
            <a:srgbClr val="F2A541"/>
          </a:solidFill>
          <a:ln/>
        </p:spPr>
      </p:sp>
      <p:sp>
        <p:nvSpPr>
          <p:cNvPr id="28" name="Shape 26"/>
          <p:cNvSpPr/>
          <p:nvPr/>
        </p:nvSpPr>
        <p:spPr>
          <a:xfrm>
            <a:off x="9162288" y="1965960"/>
            <a:ext cx="1965960" cy="2148840"/>
          </a:xfrm>
          <a:prstGeom prst="roundRect">
            <a:avLst>
              <a:gd name="adj" fmla="val 3721"/>
            </a:avLst>
          </a:prstGeom>
          <a:solidFill>
            <a:srgbClr val="141A45"/>
          </a:solidFill>
          <a:ln/>
        </p:spPr>
      </p:sp>
      <p:sp>
        <p:nvSpPr>
          <p:cNvPr id="29" name="Shape 27"/>
          <p:cNvSpPr/>
          <p:nvPr/>
        </p:nvSpPr>
        <p:spPr>
          <a:xfrm>
            <a:off x="9326880" y="2148840"/>
            <a:ext cx="384048" cy="384048"/>
          </a:xfrm>
          <a:prstGeom prst="ellipse">
            <a:avLst/>
          </a:prstGeom>
          <a:solidFill>
            <a:srgbClr val="F2A541"/>
          </a:solidFill>
          <a:ln/>
        </p:spPr>
      </p:sp>
      <p:sp>
        <p:nvSpPr>
          <p:cNvPr id="30" name="Text 28"/>
          <p:cNvSpPr txBox="1"/>
          <p:nvPr/>
        </p:nvSpPr>
        <p:spPr>
          <a:xfrm>
            <a:off x="9326880" y="2148840"/>
            <a:ext cx="384048" cy="384048"/>
          </a:xfrm>
          <a:prstGeom prst="rect">
            <a:avLst/>
          </a:prstGeom>
          <a:noFill/>
          <a:ln/>
        </p:spPr>
        <p:txBody>
          <a:bodyPr wrap="square" lIns="0" tIns="0" rIns="0" bIns="0" rtlCol="0" anchor="ctr"/>
          <a:lstStyle/>
          <a:p>
            <a:pPr algn="ctr" indent="0" marL="0">
              <a:buNone/>
            </a:pPr>
            <a:r>
              <a:rPr lang="en-US" sz="1600" b="1" dirty="0">
                <a:solidFill>
                  <a:srgbClr val="141A45"/>
                </a:solidFill>
                <a:latin typeface="Calibri" pitchFamily="34" charset="0"/>
                <a:ea typeface="Calibri" pitchFamily="34" charset="-122"/>
                <a:cs typeface="Calibri" pitchFamily="34" charset="-120"/>
              </a:rPr>
              <a:t>5</a:t>
            </a:r>
            <a:endParaRPr lang="en-US" sz="1600" dirty="0"/>
          </a:p>
        </p:txBody>
      </p:sp>
      <p:sp>
        <p:nvSpPr>
          <p:cNvPr id="31" name="Text 29"/>
          <p:cNvSpPr txBox="1"/>
          <p:nvPr/>
        </p:nvSpPr>
        <p:spPr>
          <a:xfrm>
            <a:off x="9326880" y="2679192"/>
            <a:ext cx="1636776"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3 modelos comparados</a:t>
            </a:r>
            <a:endParaRPr lang="en-US" sz="1450" dirty="0"/>
          </a:p>
        </p:txBody>
      </p:sp>
      <p:sp>
        <p:nvSpPr>
          <p:cNvPr id="32" name="Text 30"/>
          <p:cNvSpPr txBox="1"/>
          <p:nvPr/>
        </p:nvSpPr>
        <p:spPr>
          <a:xfrm>
            <a:off x="9326880" y="3172968"/>
            <a:ext cx="1636776" cy="1005840"/>
          </a:xfrm>
          <a:prstGeom prst="rect">
            <a:avLst/>
          </a:prstGeom>
          <a:noFill/>
          <a:ln/>
        </p:spPr>
        <p:txBody>
          <a:bodyPr wrap="square" lIns="0" tIns="0" rIns="0" bIns="0"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Logistic Reg. · Random</a:t>
            </a:r>
            <a:endParaRPr lang="en-US" sz="1100" dirty="0"/>
          </a:p>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Forest · Gradient Boosting</a:t>
            </a:r>
            <a:endParaRPr lang="en-US" sz="1100" dirty="0"/>
          </a:p>
        </p:txBody>
      </p:sp>
      <p:sp>
        <p:nvSpPr>
          <p:cNvPr id="33" name="Shape 31"/>
          <p:cNvSpPr/>
          <p:nvPr/>
        </p:nvSpPr>
        <p:spPr>
          <a:xfrm>
            <a:off x="640080" y="4389120"/>
            <a:ext cx="10881360" cy="1737360"/>
          </a:xfrm>
          <a:prstGeom prst="roundRect">
            <a:avLst>
              <a:gd name="adj" fmla="val 5263"/>
            </a:avLst>
          </a:prstGeom>
          <a:solidFill>
            <a:srgbClr val="141A45"/>
          </a:solidFill>
          <a:ln w="9525">
            <a:solidFill>
              <a:srgbClr val="F2A541"/>
            </a:solidFill>
            <a:prstDash val="solid"/>
          </a:ln>
        </p:spPr>
      </p:sp>
      <p:sp>
        <p:nvSpPr>
          <p:cNvPr id="34" name="Text 32"/>
          <p:cNvSpPr txBox="1"/>
          <p:nvPr/>
        </p:nvSpPr>
        <p:spPr>
          <a:xfrm>
            <a:off x="914400" y="4553712"/>
            <a:ext cx="3383280" cy="457200"/>
          </a:xfrm>
          <a:prstGeom prst="rect">
            <a:avLst/>
          </a:prstGeom>
          <a:noFill/>
          <a:ln/>
        </p:spPr>
        <p:txBody>
          <a:bodyPr wrap="square" lIns="0" tIns="0" rIns="0" bIns="0" rtlCol="0" anchor="ctr"/>
          <a:lstStyle/>
          <a:p>
            <a:pPr indent="0" marL="0">
              <a:buNone/>
            </a:pPr>
            <a:r>
              <a:rPr lang="en-US" sz="1900" b="1" dirty="0">
                <a:solidFill>
                  <a:srgbClr val="F2A541"/>
                </a:solidFill>
                <a:latin typeface="Cambria" pitchFamily="34" charset="0"/>
                <a:ea typeface="Cambria" pitchFamily="34" charset="-122"/>
                <a:cs typeface="Cambria" pitchFamily="34" charset="-120"/>
              </a:rPr>
              <a:t>Regressão Logística</a:t>
            </a:r>
            <a:endParaRPr lang="en-US" sz="1900" dirty="0"/>
          </a:p>
        </p:txBody>
      </p:sp>
      <p:sp>
        <p:nvSpPr>
          <p:cNvPr id="35" name="Text 33"/>
          <p:cNvSpPr txBox="1"/>
          <p:nvPr/>
        </p:nvSpPr>
        <p:spPr>
          <a:xfrm>
            <a:off x="914400" y="4992624"/>
            <a:ext cx="3383280" cy="32004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modelo selecionado</a:t>
            </a:r>
            <a:endParaRPr lang="en-US" sz="1150" dirty="0"/>
          </a:p>
        </p:txBody>
      </p:sp>
      <p:sp>
        <p:nvSpPr>
          <p:cNvPr id="36" name="Text 34"/>
          <p:cNvSpPr txBox="1"/>
          <p:nvPr/>
        </p:nvSpPr>
        <p:spPr>
          <a:xfrm>
            <a:off x="914400" y="5440680"/>
            <a:ext cx="33832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ROC-AUC 96,4%  ·  F1 89,3%</a:t>
            </a:r>
            <a:endParaRPr lang="en-US" sz="1300" dirty="0"/>
          </a:p>
        </p:txBody>
      </p:sp>
      <p:graphicFrame>
        <p:nvGraphicFramePr>
          <p:cNvPr id="37" name="Chart 0" descr=""/>
          <p:cNvGraphicFramePr/>
          <p:nvPr/>
        </p:nvGraphicFramePr>
        <p:xfrm>
          <a:off x="4434840" y="4498848"/>
          <a:ext cx="6263640" cy="1536192"/>
        </p:xfrm>
        <a:graphic xmlns:a="http://schemas.openxmlformats.org/drawingml/2006/main">
          <a:graphicData uri="http://schemas.openxmlformats.org/drawingml/2006/chart">
            <c:chart xmlns:c="http://schemas.openxmlformats.org/drawingml/2006/chart" r:id="rId1"/>
          </a:graphicData>
        </a:graphic>
      </p:graphicFrame>
      <p:sp>
        <p:nvSpPr>
          <p:cNvPr id="38" name="Text 35"/>
          <p:cNvSpPr txBox="1"/>
          <p:nvPr/>
        </p:nvSpPr>
        <p:spPr>
          <a:xfrm>
            <a:off x="11185855" y="6400800"/>
            <a:ext cx="731520" cy="274320"/>
          </a:xfrm>
          <a:prstGeom prst="rect">
            <a:avLst/>
          </a:prstGeom>
          <a:noFill/>
          <a:ln/>
        </p:spPr>
        <p:txBody>
          <a:bodyPr wrap="square" lIns="0" tIns="0" rIns="0" bIns="0" rtlCol="0" anchor="ctr"/>
          <a:lstStyle/>
          <a:p>
            <a:pPr algn="r" indent="0" marL="0">
              <a:buNone/>
            </a:pPr>
            <a:r>
              <a:rPr lang="en-US" sz="1000" dirty="0">
                <a:solidFill>
                  <a:srgbClr val="8B93C4"/>
                </a:solidFill>
                <a:latin typeface="Calibri" pitchFamily="34" charset="0"/>
                <a:ea typeface="Calibri" pitchFamily="34" charset="-122"/>
                <a:cs typeface="Calibri" pitchFamily="34" charset="-120"/>
              </a:rPr>
              <a:t>4 / 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INTERPRETABILIDADE</a:t>
            </a:r>
            <a:endParaRPr lang="en-US" sz="1200" dirty="0"/>
          </a:p>
        </p:txBody>
      </p:sp>
      <p:sp>
        <p:nvSpPr>
          <p:cNvPr id="3" name="Text 1"/>
          <p:cNvSpPr txBox="1"/>
          <p:nvPr/>
        </p:nvSpPr>
        <p:spPr>
          <a:xfrm>
            <a:off x="640080" y="868680"/>
            <a:ext cx="10881360" cy="777240"/>
          </a:xfrm>
          <a:prstGeom prst="rect">
            <a:avLst/>
          </a:prstGeom>
          <a:noFill/>
          <a:ln/>
        </p:spPr>
        <p:txBody>
          <a:bodyPr wrap="square" lIns="0" tIns="0" rIns="0" bIns="0" rtlCol="0" anchor="ctr"/>
          <a:lstStyle/>
          <a:p>
            <a:pPr indent="0" marL="0">
              <a:buNone/>
            </a:pPr>
            <a:r>
              <a:rPr lang="en-US" sz="2600" b="1" dirty="0">
                <a:solidFill>
                  <a:srgbClr val="1A1F3D"/>
                </a:solidFill>
                <a:latin typeface="Cambria" pitchFamily="34" charset="0"/>
                <a:ea typeface="Cambria" pitchFamily="34" charset="-122"/>
                <a:cs typeface="Cambria" pitchFamily="34" charset="-120"/>
              </a:rPr>
              <a:t>O que o modelo aprendeu — e por que confiar nele</a:t>
            </a:r>
            <a:endParaRPr lang="en-US" sz="2600" dirty="0"/>
          </a:p>
        </p:txBody>
      </p:sp>
      <p:sp>
        <p:nvSpPr>
          <p:cNvPr id="4" name="Shape 2"/>
          <p:cNvSpPr/>
          <p:nvPr/>
        </p:nvSpPr>
        <p:spPr>
          <a:xfrm>
            <a:off x="640080" y="1783080"/>
            <a:ext cx="5943600" cy="4343400"/>
          </a:xfrm>
          <a:prstGeom prst="roundRect">
            <a:avLst>
              <a:gd name="adj" fmla="val 1684"/>
            </a:avLst>
          </a:prstGeom>
          <a:solidFill>
            <a:srgbClr val="F4F6FC"/>
          </a:solidFill>
          <a:ln/>
        </p:spPr>
      </p:sp>
      <p:pic>
        <p:nvPicPr>
          <p:cNvPr id="5" name="Image 0" descr="C:\Users\minev\OneDrive\Área de Trabalho\pós\Tech-Challenge-3\images\shap_summary.png">    </p:cNvPr>
          <p:cNvPicPr>
            <a:picLocks noChangeAspect="1"/>
          </p:cNvPicPr>
          <p:nvPr/>
        </p:nvPicPr>
        <p:blipFill>
          <a:blip r:embed="rId1"/>
          <a:stretch>
            <a:fillRect/>
          </a:stretch>
        </p:blipFill>
        <p:spPr>
          <a:xfrm>
            <a:off x="1609344" y="1920240"/>
            <a:ext cx="4005072" cy="3749040"/>
          </a:xfrm>
          <a:prstGeom prst="rect">
            <a:avLst/>
          </a:prstGeom>
        </p:spPr>
      </p:pic>
      <p:sp>
        <p:nvSpPr>
          <p:cNvPr id="6" name="Text 3"/>
          <p:cNvSpPr txBox="1"/>
          <p:nvPr/>
        </p:nvSpPr>
        <p:spPr>
          <a:xfrm>
            <a:off x="777240" y="5806440"/>
            <a:ext cx="5669280" cy="274320"/>
          </a:xfrm>
          <a:prstGeom prst="rect">
            <a:avLst/>
          </a:prstGeom>
          <a:noFill/>
          <a:ln/>
        </p:spPr>
        <p:txBody>
          <a:bodyPr wrap="square" lIns="0" tIns="0" rIns="0" bIns="0" rtlCol="0" anchor="ctr"/>
          <a:lstStyle/>
          <a:p>
            <a:pPr algn="ctr" indent="0" marL="0">
              <a:buNone/>
            </a:pPr>
            <a:r>
              <a:rPr lang="en-US" sz="1150" i="1" dirty="0">
                <a:solidFill>
                  <a:srgbClr val="5B6291"/>
                </a:solidFill>
                <a:latin typeface="Calibri" pitchFamily="34" charset="0"/>
                <a:ea typeface="Calibri" pitchFamily="34" charset="-122"/>
                <a:cs typeface="Calibri" pitchFamily="34" charset="-120"/>
              </a:rPr>
              <a:t>SHAP — impacto de cada variável na predição</a:t>
            </a:r>
            <a:endParaRPr lang="en-US" sz="1150" dirty="0"/>
          </a:p>
        </p:txBody>
      </p:sp>
      <p:sp>
        <p:nvSpPr>
          <p:cNvPr id="7" name="Shape 4"/>
          <p:cNvSpPr/>
          <p:nvPr/>
        </p:nvSpPr>
        <p:spPr>
          <a:xfrm>
            <a:off x="6720840" y="1783080"/>
            <a:ext cx="4828032" cy="2084832"/>
          </a:xfrm>
          <a:prstGeom prst="roundRect">
            <a:avLst>
              <a:gd name="adj" fmla="val 3509"/>
            </a:avLst>
          </a:prstGeom>
          <a:solidFill>
            <a:srgbClr val="F4F6FC"/>
          </a:solidFill>
          <a:ln/>
        </p:spPr>
      </p:sp>
      <p:pic>
        <p:nvPicPr>
          <p:cNvPr id="8" name="Image 1" descr="C:\Users\minev\OneDrive\Área de Trabalho\pós\Tech-Challenge-3\images\roc_curve.png">    </p:cNvPr>
          <p:cNvPicPr>
            <a:picLocks noChangeAspect="1"/>
          </p:cNvPicPr>
          <p:nvPr/>
        </p:nvPicPr>
        <p:blipFill>
          <a:blip r:embed="rId2"/>
          <a:stretch>
            <a:fillRect/>
          </a:stretch>
        </p:blipFill>
        <p:spPr>
          <a:xfrm>
            <a:off x="8366760" y="1920240"/>
            <a:ext cx="1536192" cy="1536192"/>
          </a:xfrm>
          <a:prstGeom prst="rect">
            <a:avLst/>
          </a:prstGeom>
        </p:spPr>
      </p:pic>
      <p:sp>
        <p:nvSpPr>
          <p:cNvPr id="9" name="Text 5"/>
          <p:cNvSpPr txBox="1"/>
          <p:nvPr/>
        </p:nvSpPr>
        <p:spPr>
          <a:xfrm>
            <a:off x="6858000" y="3593592"/>
            <a:ext cx="4553712" cy="256032"/>
          </a:xfrm>
          <a:prstGeom prst="rect">
            <a:avLst/>
          </a:prstGeom>
          <a:noFill/>
          <a:ln/>
        </p:spPr>
        <p:txBody>
          <a:bodyPr wrap="square" lIns="0" tIns="0" rIns="0" bIns="0" rtlCol="0" anchor="ctr"/>
          <a:lstStyle/>
          <a:p>
            <a:pPr algn="ctr" indent="0" marL="0">
              <a:buNone/>
            </a:pPr>
            <a:r>
              <a:rPr lang="en-US" sz="1050" i="1" dirty="0">
                <a:solidFill>
                  <a:srgbClr val="5B6291"/>
                </a:solidFill>
                <a:latin typeface="Calibri" pitchFamily="34" charset="0"/>
                <a:ea typeface="Calibri" pitchFamily="34" charset="-122"/>
                <a:cs typeface="Calibri" pitchFamily="34" charset="-120"/>
              </a:rPr>
              <a:t>Curva ROC — separa risco de sucesso</a:t>
            </a:r>
            <a:endParaRPr lang="en-US" sz="1050" dirty="0"/>
          </a:p>
        </p:txBody>
      </p:sp>
      <p:sp>
        <p:nvSpPr>
          <p:cNvPr id="10" name="Shape 6"/>
          <p:cNvSpPr/>
          <p:nvPr/>
        </p:nvSpPr>
        <p:spPr>
          <a:xfrm>
            <a:off x="6720840" y="3977640"/>
            <a:ext cx="4828032" cy="2148840"/>
          </a:xfrm>
          <a:prstGeom prst="roundRect">
            <a:avLst>
              <a:gd name="adj" fmla="val 3404"/>
            </a:avLst>
          </a:prstGeom>
          <a:solidFill>
            <a:srgbClr val="F4F6FC"/>
          </a:solidFill>
          <a:ln/>
        </p:spPr>
      </p:sp>
      <p:pic>
        <p:nvPicPr>
          <p:cNvPr id="11" name="Image 2" descr="C:\Users\minev\OneDrive\Área de Trabalho\pós\Tech-Challenge-3\images\confusion_matrix.png">    </p:cNvPr>
          <p:cNvPicPr>
            <a:picLocks noChangeAspect="1"/>
          </p:cNvPicPr>
          <p:nvPr/>
        </p:nvPicPr>
        <p:blipFill>
          <a:blip r:embed="rId3"/>
          <a:stretch>
            <a:fillRect/>
          </a:stretch>
        </p:blipFill>
        <p:spPr>
          <a:xfrm>
            <a:off x="8334756" y="4114800"/>
            <a:ext cx="1600200" cy="1600200"/>
          </a:xfrm>
          <a:prstGeom prst="rect">
            <a:avLst/>
          </a:prstGeom>
        </p:spPr>
      </p:pic>
      <p:sp>
        <p:nvSpPr>
          <p:cNvPr id="12" name="Text 7"/>
          <p:cNvSpPr txBox="1"/>
          <p:nvPr/>
        </p:nvSpPr>
        <p:spPr>
          <a:xfrm>
            <a:off x="6858000" y="5852160"/>
            <a:ext cx="4553712" cy="256032"/>
          </a:xfrm>
          <a:prstGeom prst="rect">
            <a:avLst/>
          </a:prstGeom>
          <a:noFill/>
          <a:ln/>
        </p:spPr>
        <p:txBody>
          <a:bodyPr wrap="square" lIns="0" tIns="0" rIns="0" bIns="0" rtlCol="0" anchor="ctr"/>
          <a:lstStyle/>
          <a:p>
            <a:pPr algn="ctr" indent="0" marL="0">
              <a:buNone/>
            </a:pPr>
            <a:r>
              <a:rPr lang="en-US" sz="1050" i="1" dirty="0">
                <a:solidFill>
                  <a:srgbClr val="5B6291"/>
                </a:solidFill>
                <a:latin typeface="Calibri" pitchFamily="34" charset="0"/>
                <a:ea typeface="Calibri" pitchFamily="34" charset="-122"/>
                <a:cs typeface="Calibri" pitchFamily="34" charset="-120"/>
              </a:rPr>
              <a:t>Matriz de confusão — acertos vs. erros</a:t>
            </a:r>
            <a:endParaRPr lang="en-US" sz="1050" dirty="0"/>
          </a:p>
        </p:txBody>
      </p:sp>
      <p:sp>
        <p:nvSpPr>
          <p:cNvPr id="13" name="Text 8"/>
          <p:cNvSpPr txBox="1"/>
          <p:nvPr/>
        </p:nvSpPr>
        <p:spPr>
          <a:xfrm>
            <a:off x="11185855" y="6400800"/>
            <a:ext cx="731520" cy="274320"/>
          </a:xfrm>
          <a:prstGeom prst="rect">
            <a:avLst/>
          </a:prstGeom>
          <a:noFill/>
          <a:ln/>
        </p:spPr>
        <p:txBody>
          <a:bodyPr wrap="square" lIns="0" tIns="0" rIns="0" bIns="0" rtlCol="0" anchor="ctr"/>
          <a:lstStyle/>
          <a:p>
            <a:pPr algn="r" indent="0" marL="0">
              <a:buNone/>
            </a:pPr>
            <a:r>
              <a:rPr lang="en-US" sz="1000" dirty="0">
                <a:solidFill>
                  <a:srgbClr val="A9AFC9"/>
                </a:solidFill>
                <a:latin typeface="Calibri" pitchFamily="34" charset="0"/>
                <a:ea typeface="Calibri" pitchFamily="34" charset="-122"/>
                <a:cs typeface="Calibri" pitchFamily="34" charset="-120"/>
              </a:rPr>
              <a:t>5 / 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APLICAÇÃO PRÁTICA</a:t>
            </a:r>
            <a:endParaRPr lang="en-US" sz="1200" dirty="0"/>
          </a:p>
        </p:txBody>
      </p:sp>
      <p:sp>
        <p:nvSpPr>
          <p:cNvPr id="3" name="Text 1"/>
          <p:cNvSpPr txBox="1"/>
          <p:nvPr/>
        </p:nvSpPr>
        <p:spPr>
          <a:xfrm>
            <a:off x="640080" y="868680"/>
            <a:ext cx="10881360" cy="777240"/>
          </a:xfrm>
          <a:prstGeom prst="rect">
            <a:avLst/>
          </a:prstGeom>
          <a:noFill/>
          <a:ln/>
        </p:spPr>
        <p:txBody>
          <a:bodyPr wrap="square" lIns="0" tIns="0" rIns="0" bIns="0" rtlCol="0" anchor="ctr"/>
          <a:lstStyle/>
          <a:p>
            <a:pPr indent="0" marL="0">
              <a:buNone/>
            </a:pPr>
            <a:r>
              <a:rPr lang="en-US" sz="2600" b="1" dirty="0">
                <a:solidFill>
                  <a:srgbClr val="1A1F3D"/>
                </a:solidFill>
                <a:latin typeface="Cambria" pitchFamily="34" charset="0"/>
                <a:ea typeface="Cambria" pitchFamily="34" charset="-122"/>
                <a:cs typeface="Cambria" pitchFamily="34" charset="-120"/>
              </a:rPr>
              <a:t>Um ranking de risco pronto para orientar política pública</a:t>
            </a:r>
            <a:endParaRPr lang="en-US" sz="2600" dirty="0"/>
          </a:p>
        </p:txBody>
      </p:sp>
      <p:sp>
        <p:nvSpPr>
          <p:cNvPr id="4" name="Text 2"/>
          <p:cNvSpPr txBox="1"/>
          <p:nvPr/>
        </p:nvSpPr>
        <p:spPr>
          <a:xfrm>
            <a:off x="640080" y="1737360"/>
            <a:ext cx="6583680" cy="365760"/>
          </a:xfrm>
          <a:prstGeom prst="rect">
            <a:avLst/>
          </a:prstGeom>
          <a:noFill/>
          <a:ln/>
        </p:spPr>
        <p:txBody>
          <a:bodyPr wrap="square" lIns="0" tIns="0" rIns="0" bIns="0" rtlCol="0" anchor="ctr"/>
          <a:lstStyle/>
          <a:p>
            <a:pPr indent="0" marL="0">
              <a:buNone/>
            </a:pPr>
            <a:r>
              <a:rPr lang="en-US" sz="1300" b="1" dirty="0">
                <a:solidFill>
                  <a:srgbClr val="5B6291"/>
                </a:solidFill>
                <a:latin typeface="Calibri" pitchFamily="34" charset="0"/>
                <a:ea typeface="Calibri" pitchFamily="34" charset="-122"/>
                <a:cs typeface="Calibri" pitchFamily="34" charset="-120"/>
              </a:rPr>
              <a:t>Top 5 municípios — maior probabilidade de NÃO atingir a meta em 2024</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6583680" cy="2377440"/>
        </p:xfrm>
        <a:graphic>
          <a:graphicData uri="http://schemas.openxmlformats.org/drawingml/2006/table">
            <a:tbl>
              <a:tblPr/>
              <a:tblGrid>
                <a:gridCol w="3108960"/>
                <a:gridCol w="1280160"/>
                <a:gridCol w="2194560"/>
              </a:tblGrid>
              <a:tr h="3962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Município</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UF</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 de atingir meta</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1E2761"/>
                    </a:solidFill>
                  </a:tcPr>
                </a:tc>
              </a:tr>
              <a:tr h="396240">
                <a:tc>
                  <a:txBody>
                    <a:bodyPr/>
                    <a:lstStyle/>
                    <a:p>
                      <a:pPr algn="l" indent="0" marL="0">
                        <a:buNone/>
                      </a:pPr>
                      <a:r>
                        <a:rPr lang="en-US" sz="1300" dirty="0">
                          <a:solidFill>
                            <a:srgbClr val="1A1F3D"/>
                          </a:solidFill>
                          <a:latin typeface="Calibri" pitchFamily="34" charset="0"/>
                          <a:ea typeface="Calibri" pitchFamily="34" charset="-122"/>
                          <a:cs typeface="Calibri" pitchFamily="34" charset="-120"/>
                        </a:rPr>
                        <a:t>Ipu</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CE</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r>
              <a:tr h="396240">
                <a:tc>
                  <a:txBody>
                    <a:bodyPr/>
                    <a:lstStyle/>
                    <a:p>
                      <a:pPr algn="l" indent="0" marL="0">
                        <a:buNone/>
                      </a:pPr>
                      <a:r>
                        <a:rPr lang="en-US" sz="1300" dirty="0">
                          <a:solidFill>
                            <a:srgbClr val="1A1F3D"/>
                          </a:solidFill>
                          <a:latin typeface="Calibri" pitchFamily="34" charset="0"/>
                          <a:ea typeface="Calibri" pitchFamily="34" charset="-122"/>
                          <a:cs typeface="Calibri" pitchFamily="34" charset="-120"/>
                        </a:rPr>
                        <a:t>Caridade</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4F6FC"/>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CE</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4F6FC"/>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4F6FC"/>
                    </a:solidFill>
                  </a:tcPr>
                </a:tc>
              </a:tr>
              <a:tr h="396240">
                <a:tc>
                  <a:txBody>
                    <a:bodyPr/>
                    <a:lstStyle/>
                    <a:p>
                      <a:pPr algn="l" indent="0" marL="0">
                        <a:buNone/>
                      </a:pPr>
                      <a:r>
                        <a:rPr lang="en-US" sz="1300" dirty="0">
                          <a:solidFill>
                            <a:srgbClr val="1A1F3D"/>
                          </a:solidFill>
                          <a:latin typeface="Calibri" pitchFamily="34" charset="0"/>
                          <a:ea typeface="Calibri" pitchFamily="34" charset="-122"/>
                          <a:cs typeface="Calibri" pitchFamily="34" charset="-120"/>
                        </a:rPr>
                        <a:t>Laranjeiras</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SE</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r>
              <a:tr h="396240">
                <a:tc>
                  <a:txBody>
                    <a:bodyPr/>
                    <a:lstStyle/>
                    <a:p>
                      <a:pPr algn="l" indent="0" marL="0">
                        <a:buNone/>
                      </a:pPr>
                      <a:r>
                        <a:rPr lang="en-US" sz="1300" dirty="0">
                          <a:solidFill>
                            <a:srgbClr val="1A1F3D"/>
                          </a:solidFill>
                          <a:latin typeface="Calibri" pitchFamily="34" charset="0"/>
                          <a:ea typeface="Calibri" pitchFamily="34" charset="-122"/>
                          <a:cs typeface="Calibri" pitchFamily="34" charset="-120"/>
                        </a:rPr>
                        <a:t>Granja</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4F6FC"/>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CE</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4F6FC"/>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4F6FC"/>
                    </a:solidFill>
                  </a:tcPr>
                </a:tc>
              </a:tr>
              <a:tr h="396240">
                <a:tc>
                  <a:txBody>
                    <a:bodyPr/>
                    <a:lstStyle/>
                    <a:p>
                      <a:pPr algn="l" indent="0" marL="0">
                        <a:buNone/>
                      </a:pPr>
                      <a:r>
                        <a:rPr lang="en-US" sz="1300" dirty="0">
                          <a:solidFill>
                            <a:srgbClr val="1A1F3D"/>
                          </a:solidFill>
                          <a:latin typeface="Calibri" pitchFamily="34" charset="0"/>
                          <a:ea typeface="Calibri" pitchFamily="34" charset="-122"/>
                          <a:cs typeface="Calibri" pitchFamily="34" charset="-120"/>
                        </a:rPr>
                        <a:t>Cariré</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CE</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D"/>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lnL w="9525" cap="flat" cmpd="sng" algn="ctr">
                      <a:solidFill>
                        <a:srgbClr val="E3E6F3"/>
                      </a:solidFill>
                      <a:prstDash val="solid"/>
                      <a:round/>
                      <a:headEnd type="none" w="med" len="med"/>
                      <a:tailEnd type="none" w="med" len="med"/>
                    </a:lnL>
                    <a:lnR w="9525" cap="flat" cmpd="sng" algn="ctr">
                      <a:solidFill>
                        <a:srgbClr val="E3E6F3"/>
                      </a:solidFill>
                      <a:prstDash val="solid"/>
                      <a:round/>
                      <a:headEnd type="none" w="med" len="med"/>
                      <a:tailEnd type="none" w="med" len="med"/>
                    </a:lnR>
                    <a:lnT w="9525" cap="flat" cmpd="sng" algn="ctr">
                      <a:solidFill>
                        <a:srgbClr val="E3E6F3"/>
                      </a:solidFill>
                      <a:prstDash val="solid"/>
                      <a:round/>
                      <a:headEnd type="none" w="med" len="med"/>
                      <a:tailEnd type="none" w="med" len="med"/>
                    </a:lnT>
                    <a:lnB w="9525" cap="flat" cmpd="sng" algn="ctr">
                      <a:solidFill>
                        <a:srgbClr val="E3E6F3"/>
                      </a:solidFill>
                      <a:prstDash val="solid"/>
                      <a:round/>
                      <a:headEnd type="none" w="med" len="med"/>
                      <a:tailEnd type="none" w="med" len="med"/>
                    </a:lnB>
                    <a:solidFill>
                      <a:srgbClr val="FFFFFF"/>
                    </a:solidFill>
                  </a:tcPr>
                </a:tc>
              </a:tr>
            </a:tbl>
          </a:graphicData>
        </a:graphic>
      </p:graphicFrame>
      <p:sp>
        <p:nvSpPr>
          <p:cNvPr id="6" name="Shape 3"/>
          <p:cNvSpPr/>
          <p:nvPr/>
        </p:nvSpPr>
        <p:spPr>
          <a:xfrm>
            <a:off x="7635240" y="1737360"/>
            <a:ext cx="3931920" cy="4617720"/>
          </a:xfrm>
          <a:prstGeom prst="roundRect">
            <a:avLst>
              <a:gd name="adj" fmla="val 2326"/>
            </a:avLst>
          </a:prstGeom>
          <a:solidFill>
            <a:srgbClr val="1E2761"/>
          </a:solidFill>
          <a:ln/>
        </p:spPr>
      </p:sp>
      <p:sp>
        <p:nvSpPr>
          <p:cNvPr id="7" name="Text 4"/>
          <p:cNvSpPr txBox="1"/>
          <p:nvPr/>
        </p:nvSpPr>
        <p:spPr>
          <a:xfrm>
            <a:off x="7955280" y="2011680"/>
            <a:ext cx="3291840" cy="320040"/>
          </a:xfrm>
          <a:prstGeom prst="rect">
            <a:avLst/>
          </a:prstGeom>
          <a:noFill/>
          <a:ln/>
        </p:spPr>
        <p:txBody>
          <a:bodyPr wrap="square" lIns="0" tIns="0" rIns="0" bIns="0" rtlCol="0" anchor="ctr"/>
          <a:lstStyle/>
          <a:p>
            <a:pPr indent="0" marL="0">
              <a:buNone/>
            </a:pPr>
            <a:r>
              <a:rPr lang="en-US" sz="1100" b="1" spc="100" kern="0" dirty="0">
                <a:solidFill>
                  <a:srgbClr val="F2A541"/>
                </a:solidFill>
                <a:latin typeface="Calibri" pitchFamily="34" charset="0"/>
                <a:ea typeface="Calibri" pitchFamily="34" charset="-122"/>
                <a:cs typeface="Calibri" pitchFamily="34" charset="-120"/>
              </a:rPr>
              <a:t>COMO ISSO APOIA O GESTOR</a:t>
            </a:r>
            <a:endParaRPr lang="en-US" sz="1100" dirty="0"/>
          </a:p>
        </p:txBody>
      </p:sp>
      <p:sp>
        <p:nvSpPr>
          <p:cNvPr id="8" name="Shape 5"/>
          <p:cNvSpPr/>
          <p:nvPr/>
        </p:nvSpPr>
        <p:spPr>
          <a:xfrm>
            <a:off x="7955280" y="2542032"/>
            <a:ext cx="82296" cy="82296"/>
          </a:xfrm>
          <a:prstGeom prst="ellipse">
            <a:avLst/>
          </a:prstGeom>
          <a:solidFill>
            <a:srgbClr val="F2A541"/>
          </a:solidFill>
          <a:ln/>
        </p:spPr>
      </p:sp>
      <p:sp>
        <p:nvSpPr>
          <p:cNvPr id="9" name="Text 6"/>
          <p:cNvSpPr txBox="1"/>
          <p:nvPr/>
        </p:nvSpPr>
        <p:spPr>
          <a:xfrm>
            <a:off x="8183880" y="2468880"/>
            <a:ext cx="3200400" cy="91440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Priorizar reforço escolar e formação de professores antes do resultado ruim se confirmar.</a:t>
            </a:r>
            <a:endParaRPr lang="en-US" sz="1250" dirty="0"/>
          </a:p>
        </p:txBody>
      </p:sp>
      <p:sp>
        <p:nvSpPr>
          <p:cNvPr id="10" name="Shape 7"/>
          <p:cNvSpPr/>
          <p:nvPr/>
        </p:nvSpPr>
        <p:spPr>
          <a:xfrm>
            <a:off x="7955280" y="3593592"/>
            <a:ext cx="82296" cy="82296"/>
          </a:xfrm>
          <a:prstGeom prst="ellipse">
            <a:avLst/>
          </a:prstGeom>
          <a:solidFill>
            <a:srgbClr val="F2A541"/>
          </a:solidFill>
          <a:ln/>
        </p:spPr>
      </p:sp>
      <p:sp>
        <p:nvSpPr>
          <p:cNvPr id="11" name="Text 8"/>
          <p:cNvSpPr txBox="1"/>
          <p:nvPr/>
        </p:nvSpPr>
        <p:spPr>
          <a:xfrm>
            <a:off x="8183880" y="3520440"/>
            <a:ext cx="3200400" cy="91440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Diferenciar política por perfil regional — Norte/Nordeste exigem estratégia distinta de Sul/Sudeste.</a:t>
            </a:r>
            <a:endParaRPr lang="en-US" sz="1250" dirty="0"/>
          </a:p>
        </p:txBody>
      </p:sp>
      <p:sp>
        <p:nvSpPr>
          <p:cNvPr id="12" name="Shape 9"/>
          <p:cNvSpPr/>
          <p:nvPr/>
        </p:nvSpPr>
        <p:spPr>
          <a:xfrm>
            <a:off x="7955280" y="4645152"/>
            <a:ext cx="82296" cy="82296"/>
          </a:xfrm>
          <a:prstGeom prst="ellipse">
            <a:avLst/>
          </a:prstGeom>
          <a:solidFill>
            <a:srgbClr val="F2A541"/>
          </a:solidFill>
          <a:ln/>
        </p:spPr>
      </p:sp>
      <p:sp>
        <p:nvSpPr>
          <p:cNvPr id="13" name="Text 10"/>
          <p:cNvSpPr txBox="1"/>
          <p:nvPr/>
        </p:nvSpPr>
        <p:spPr>
          <a:xfrm>
            <a:off x="8183880" y="4572000"/>
            <a:ext cx="3200400" cy="91440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Monitorar a trajetória do município ano a ano, não só o valor absoluto — sinal de alerta precoce.</a:t>
            </a:r>
            <a:endParaRPr lang="en-US" sz="1250" dirty="0"/>
          </a:p>
        </p:txBody>
      </p:sp>
      <p:sp>
        <p:nvSpPr>
          <p:cNvPr id="14" name="Text 11"/>
          <p:cNvSpPr txBox="1"/>
          <p:nvPr/>
        </p:nvSpPr>
        <p:spPr>
          <a:xfrm>
            <a:off x="11185855" y="6400800"/>
            <a:ext cx="731520" cy="274320"/>
          </a:xfrm>
          <a:prstGeom prst="rect">
            <a:avLst/>
          </a:prstGeom>
          <a:noFill/>
          <a:ln/>
        </p:spPr>
        <p:txBody>
          <a:bodyPr wrap="square" lIns="0" tIns="0" rIns="0" bIns="0" rtlCol="0" anchor="ctr"/>
          <a:lstStyle/>
          <a:p>
            <a:pPr algn="r" indent="0" marL="0">
              <a:buNone/>
            </a:pPr>
            <a:r>
              <a:rPr lang="en-US" sz="1000" dirty="0">
                <a:solidFill>
                  <a:srgbClr val="A9AFC9"/>
                </a:solidFill>
                <a:latin typeface="Calibri" pitchFamily="34" charset="0"/>
                <a:ea typeface="Calibri" pitchFamily="34" charset="-122"/>
                <a:cs typeface="Calibri" pitchFamily="34" charset="-120"/>
              </a:rPr>
              <a:t>6 / 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743200" y="-2743200"/>
            <a:ext cx="5486400" cy="5486400"/>
          </a:xfrm>
          <a:prstGeom prst="ellipse">
            <a:avLst/>
          </a:prstGeom>
          <a:solidFill>
            <a:srgbClr val="141A45"/>
          </a:solidFill>
          <a:ln/>
        </p:spPr>
      </p:sp>
      <p:sp>
        <p:nvSpPr>
          <p:cNvPr id="3" name="Text 1"/>
          <p:cNvSpPr txBox="1"/>
          <p:nvPr/>
        </p:nvSpPr>
        <p:spPr>
          <a:xfrm>
            <a:off x="822960" y="731520"/>
            <a:ext cx="5486400" cy="32004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VALOR ESTRATÉGICO</a:t>
            </a:r>
            <a:endParaRPr lang="en-US" sz="1200" dirty="0"/>
          </a:p>
        </p:txBody>
      </p:sp>
      <p:sp>
        <p:nvSpPr>
          <p:cNvPr id="4" name="Text 2"/>
          <p:cNvSpPr txBox="1"/>
          <p:nvPr/>
        </p:nvSpPr>
        <p:spPr>
          <a:xfrm>
            <a:off x="822960" y="1143000"/>
            <a:ext cx="10241280" cy="11887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 medir o passado a agir sobre o futuro provável</a:t>
            </a:r>
            <a:endParaRPr lang="en-US" sz="3200" dirty="0"/>
          </a:p>
        </p:txBody>
      </p:sp>
      <p:sp>
        <p:nvSpPr>
          <p:cNvPr id="5" name="Text 3"/>
          <p:cNvSpPr txBox="1"/>
          <p:nvPr/>
        </p:nvSpPr>
        <p:spPr>
          <a:xfrm>
            <a:off x="822960" y="2331720"/>
            <a:ext cx="7863840" cy="914400"/>
          </a:xfrm>
          <a:prstGeom prst="rect">
            <a:avLst/>
          </a:prstGeom>
          <a:noFill/>
          <a:ln/>
        </p:spPr>
        <p:txBody>
          <a:bodyPr wrap="square" lIns="0" tIns="0" rIns="0" bIns="0" rtlCol="0" anchor="ctr"/>
          <a:lstStyle/>
          <a:p>
            <a:pPr indent="0" marL="0">
              <a:lnSpc>
                <a:spcPct val="125000"/>
              </a:lnSpc>
              <a:buNone/>
            </a:pPr>
            <a:r>
              <a:rPr lang="en-US" sz="1500" dirty="0">
                <a:solidFill>
                  <a:srgbClr val="CADCFC"/>
                </a:solidFill>
                <a:latin typeface="Calibri" pitchFamily="34" charset="0"/>
                <a:ea typeface="Calibri" pitchFamily="34" charset="-122"/>
                <a:cs typeface="Calibri" pitchFamily="34" charset="-120"/>
              </a:rPr>
              <a:t>Mais do que gerar métricas altas, este projeto transforma dado público em inteligência aplicada — antecipando risco educacional para apoiar decisão real de política pública.</a:t>
            </a:r>
            <a:endParaRPr lang="en-US" sz="1500" dirty="0"/>
          </a:p>
        </p:txBody>
      </p:sp>
      <p:sp>
        <p:nvSpPr>
          <p:cNvPr id="6" name="Text 4"/>
          <p:cNvSpPr txBox="1"/>
          <p:nvPr/>
        </p:nvSpPr>
        <p:spPr>
          <a:xfrm>
            <a:off x="822960" y="3520440"/>
            <a:ext cx="4572000" cy="320040"/>
          </a:xfrm>
          <a:prstGeom prst="rect">
            <a:avLst/>
          </a:prstGeom>
          <a:noFill/>
          <a:ln/>
        </p:spPr>
        <p:txBody>
          <a:bodyPr wrap="square" lIns="0" tIns="0" rIns="0" bIns="0" rtlCol="0" anchor="ctr"/>
          <a:lstStyle/>
          <a:p>
            <a:pPr indent="0" marL="0">
              <a:buNone/>
            </a:pPr>
            <a:r>
              <a:rPr lang="en-US" sz="1200" b="1" spc="100" kern="0" dirty="0">
                <a:solidFill>
                  <a:srgbClr val="F2A541"/>
                </a:solidFill>
                <a:latin typeface="Calibri" pitchFamily="34" charset="0"/>
                <a:ea typeface="Calibri" pitchFamily="34" charset="-122"/>
                <a:cs typeface="Calibri" pitchFamily="34" charset="-120"/>
              </a:rPr>
              <a:t>PRÓXIMOS PASSOS</a:t>
            </a:r>
            <a:endParaRPr lang="en-US" sz="1200" dirty="0"/>
          </a:p>
        </p:txBody>
      </p:sp>
      <p:sp>
        <p:nvSpPr>
          <p:cNvPr id="7" name="Shape 5"/>
          <p:cNvSpPr/>
          <p:nvPr/>
        </p:nvSpPr>
        <p:spPr>
          <a:xfrm>
            <a:off x="822960" y="3931920"/>
            <a:ext cx="274320" cy="274320"/>
          </a:xfrm>
          <a:prstGeom prst="roundRect">
            <a:avLst>
              <a:gd name="adj" fmla="val 20000"/>
            </a:avLst>
          </a:prstGeom>
          <a:solidFill>
            <a:srgbClr val="141A45"/>
          </a:solidFill>
          <a:ln w="12700">
            <a:solidFill>
              <a:srgbClr val="F2A541"/>
            </a:solidFill>
            <a:prstDash val="solid"/>
          </a:ln>
        </p:spPr>
      </p:sp>
      <p:sp>
        <p:nvSpPr>
          <p:cNvPr id="8" name="Text 6"/>
          <p:cNvSpPr txBox="1"/>
          <p:nvPr/>
        </p:nvSpPr>
        <p:spPr>
          <a:xfrm>
            <a:off x="1280160" y="3858768"/>
            <a:ext cx="96012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Enriquecer com dados socioeconômicos (IBGE, Censo Escolar, Cadastro Único).</a:t>
            </a:r>
            <a:endParaRPr lang="en-US" sz="1400" dirty="0"/>
          </a:p>
        </p:txBody>
      </p:sp>
      <p:sp>
        <p:nvSpPr>
          <p:cNvPr id="9" name="Shape 7"/>
          <p:cNvSpPr/>
          <p:nvPr/>
        </p:nvSpPr>
        <p:spPr>
          <a:xfrm>
            <a:off x="822960" y="4590288"/>
            <a:ext cx="274320" cy="274320"/>
          </a:xfrm>
          <a:prstGeom prst="roundRect">
            <a:avLst>
              <a:gd name="adj" fmla="val 20000"/>
            </a:avLst>
          </a:prstGeom>
          <a:solidFill>
            <a:srgbClr val="141A45"/>
          </a:solidFill>
          <a:ln w="12700">
            <a:solidFill>
              <a:srgbClr val="F2A541"/>
            </a:solidFill>
            <a:prstDash val="solid"/>
          </a:ln>
        </p:spPr>
      </p:sp>
      <p:sp>
        <p:nvSpPr>
          <p:cNvPr id="10" name="Text 8"/>
          <p:cNvSpPr txBox="1"/>
          <p:nvPr/>
        </p:nvSpPr>
        <p:spPr>
          <a:xfrm>
            <a:off x="1280160" y="4517136"/>
            <a:ext cx="96012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Expandir para o universo completo de municípios brasileiros.</a:t>
            </a:r>
            <a:endParaRPr lang="en-US" sz="1400" dirty="0"/>
          </a:p>
        </p:txBody>
      </p:sp>
      <p:sp>
        <p:nvSpPr>
          <p:cNvPr id="11" name="Shape 9"/>
          <p:cNvSpPr/>
          <p:nvPr/>
        </p:nvSpPr>
        <p:spPr>
          <a:xfrm>
            <a:off x="822960" y="5248656"/>
            <a:ext cx="274320" cy="274320"/>
          </a:xfrm>
          <a:prstGeom prst="roundRect">
            <a:avLst>
              <a:gd name="adj" fmla="val 20000"/>
            </a:avLst>
          </a:prstGeom>
          <a:solidFill>
            <a:srgbClr val="141A45"/>
          </a:solidFill>
          <a:ln w="12700">
            <a:solidFill>
              <a:srgbClr val="F2A541"/>
            </a:solidFill>
            <a:prstDash val="solid"/>
          </a:ln>
        </p:spPr>
      </p:sp>
      <p:sp>
        <p:nvSpPr>
          <p:cNvPr id="12" name="Text 10"/>
          <p:cNvSpPr txBox="1"/>
          <p:nvPr/>
        </p:nvSpPr>
        <p:spPr>
          <a:xfrm>
            <a:off x="1280160" y="5175504"/>
            <a:ext cx="960120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Dashboard interativo para gestores explorarem o ranking sem depender de notebooks.</a:t>
            </a:r>
            <a:endParaRPr lang="en-US" sz="1400" dirty="0"/>
          </a:p>
        </p:txBody>
      </p:sp>
      <p:sp>
        <p:nvSpPr>
          <p:cNvPr id="13" name="Text 11"/>
          <p:cNvSpPr txBox="1"/>
          <p:nvPr/>
        </p:nvSpPr>
        <p:spPr>
          <a:xfrm>
            <a:off x="11185855" y="6400800"/>
            <a:ext cx="731520" cy="274320"/>
          </a:xfrm>
          <a:prstGeom prst="rect">
            <a:avLst/>
          </a:prstGeom>
          <a:noFill/>
          <a:ln/>
        </p:spPr>
        <p:txBody>
          <a:bodyPr wrap="square" lIns="0" tIns="0" rIns="0" bIns="0" rtlCol="0" anchor="ctr"/>
          <a:lstStyle/>
          <a:p>
            <a:pPr algn="r" indent="0" marL="0">
              <a:buNone/>
            </a:pPr>
            <a:r>
              <a:rPr lang="en-US" sz="1000" dirty="0">
                <a:solidFill>
                  <a:srgbClr val="8B93C4"/>
                </a:solidFill>
                <a:latin typeface="Calibri" pitchFamily="34" charset="0"/>
                <a:ea typeface="Calibri" pitchFamily="34" charset="-122"/>
                <a:cs typeface="Calibri" pitchFamily="34" charset="-120"/>
              </a:rPr>
              <a:t>7 / 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2026-09-11T16:02:10Z</dcterms:created>
  <dcterms:modified xsi:type="dcterms:W3CDTF">2026-09-11T16:02:10Z</dcterms:modified>
</cp:coreProperties>
</file>